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ere" id="{5b88b2d0-fa33-30c1-3ea7-3904dad70e7e}">
          <p14:sldIdLst>
            <p14:sldId id="256"/>
            <p14:sldId id="257"/>
          </p14:sldIdLst>
        </p14:section>
        <p14:section name="Datele" id="{54e53f08-1afb-fff5-ee63-8c5669bf055f}">
          <p14:sldIdLst>
            <p14:sldId id="258"/>
            <p14:sldId id="259"/>
          </p14:sldIdLst>
        </p14:section>
        <p14:section name="Arhitectura proprie" id="{1a14771d-69e8-0d57-ece1-93cc052a0724}">
          <p14:sldIdLst>
            <p14:sldId id="260"/>
            <p14:sldId id="261"/>
            <p14:sldId id="262"/>
            <p14:sldId id="263"/>
            <p14:sldId id="264"/>
            <p14:sldId id="265"/>
            <p14:sldId id="266"/>
            <p14:sldId id="267"/>
          </p14:sldIdLst>
        </p14:section>
        <p14:section name="ResNet50 și comparația" id="{17c12860-0309-2b53-b7e8-d119e932e13b}">
          <p14:sldIdLst>
            <p14:sldId id="268"/>
            <p14:sldId id="269"/>
            <p14:sldId id="270"/>
          </p14:sldIdLst>
        </p14:section>
        <p14:section name="Aplicația" id="{bf28250d-2f30-ffa5-c184-c5a146908406}">
          <p14:sldIdLst>
            <p14:sldId id="271"/>
          </p14:sldIdLst>
        </p14:section>
        <p14:section name="Final" id="{df8afb1c-7a31-b0a5-a4d3-ffc0e440a57d}">
          <p14:sldIdLst>
            <p14:sldId id="272"/>
            <p14:sldId id="27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Bună ziua. Proiectul nostru recunoaște automat semnele de circulație din fotografii. Am construit o rețea neuronală proprie, am comparat-o cu ResNet50 și am făcut o aplicație web în care încărcăm o poză și aflăm ce semn este.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Baremul cere o arhitectură proprie, comparația cu una consacrată și o interfață grafică. Le-am făcut pe toate trei. Rezultatul principal: rețeaua noastră mică e mai precisă decât ResNet50 pe acest set.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Folosim GTSRB, setul german de semne: peste 51.000 de fotografii reale în 43 de clase. Imaginile sunt mici, în medie 51 pe 51 de pixeli, și multe sunt întunecate sau neclare, ceea ce face problema mai grea decât pare.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Primul pas important: împărțirea pe track-uri. GTSRB are câte 30 de cadre consecutive din același semn; dacă le-am amesteca, validarea ar conține aproape-duplicate și ar arăta un scor fals de bun. Apoi decupăm semnul, micșorăm la 48 pe 48 și augmentăm, adică creăm variații ale imaginilor. Nu oglindim, pentru că un semn de obligatoriu la dreapta oglindit devine alt semn. Pentru dezechilibrul dintre clase folosim ponderi.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Așa lucrează rețeaua pe un exemplu real: fotografia, decuparea, micșorarea la 48 pe 48, apoi rețeaua cu 1,3 milioane de parametri dă câte o probabilitate pentru fiecare dintre cele 43 de semne. Aici Stop are aproape 100%.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Arhitectura are trei blocuri de convoluție. Numărul de filtre crește de la 32 la 128, pentru că blocurile de la final recunosc tipare tot mai complexe. După fiecare bloc imaginea se înjumătățește. La final, un strat dens de 256 de neuroni cu dropout 0,5 și un softmax cu 43 de ieșiri. Am ales 48 pe 48 pentru că imaginile au în medie 51 de pixeli: nu pierdem detalii și antrenarea rămâne rapidă.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Pierderea este cross-entropy, potrivită când avem multe clase și un singur răspuns corect. Optimizatorul e Adam cu rata de învățare 0,001. EarlyStopping oprește antrenarea când validarea nu se mai îmbunătățește, iar ReduceLROnPlateau micșorează pașii când învățarea stagnează. Seed-ul 42 face rezultatele reproductibile, iar ponderile sunt salvate în fișiere .keras.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Curbele de pierdere și acuratețe pentru modelul de bază. Pierderea pe validare scade odată cu cea de antrenare, deci modelul învață lucruri generale, nu le tocește. Validarea e uneori chiar peste antrenare, pentru că dropout-ul și augmentarea sunt active doar la antrenare.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 să arătăm overfitting-ul, am antrenat aceeași rețea fără dropout și fără augmentare. Pe antrenare ajunge la 100% încă de la epoca 8, adică învață pe de rost, dar pe validare rămâne cu un punct mai jos. Regularizarea reduce decalajul la 0,2 puncte.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Toate experimentele trec de 95%. Modelul de bază are 99,03%. Fără regularizare scade la 98,31%. Modelul antrenat pe imagini nedecupate ține 98,46% pe poze nedecupate, de aceea îl folosim în aplicație, unde pozele utilizatorului nu sunt decupate.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Câteva predicții reale. Când rețeaua are dreptate, încrederea medie e 99,7%; când greșește, scade la 78,5%. Deci încrederea e un semnal util.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Greșelile au sens: triunghiuri cu simboluri mici, ca Polei sau zăpadă și Bicicliști, sau Trecere pentru pietoni și Prioritate. La 48 de pixeli simbolul din mijloc are doar câțiva pixeli.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Pentru arhitectura consacrată am ales ResNet50, pre-antrenat pe ImageNet. Întâi am antrenat doar capul nou, cu baza înghețată, apoi am dezghețat ultimele blocuri cu o rată de învățare de zece ori mai mică, ca să nu stricăm ce a învățat deja. Am încercat două variante: doar conv5 și conv4 plus conv5.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Comparația pe același set de test. CNN-ul nostru greșește la mai puțin de 1% din imagini; cea mai bună variantă ResNet50 la 2,2%. În plus, CNN-ul e de 18 ori mai mic, se antrenează de aproape 3 ori mai repede și e de 9 ori mai rapid la inferență.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 ce câștigă rețeaua mică? ResNet50 a învățat pe ImageNet obiecte mari, fotografiate clar, pe când semnele noastre au 50 de pixeli. Când am dezghețat mai multe straturi, ResNet a urcat de la 93 la aproape 98%, deci diferența venea mai ales din antrenare. Cu GPU și mai mult timp, probabil s-ar apropia și mai mult. Important: ambele greșesc la aceleași semne.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Aici facem demonstrația live. Pornim aplicația, alegem modelul, încărcăm o poză sau un exemplu și vedem semnul, încrederea și primele trei variante, plus imaginea oficială alături. Aplicația folosește modelul antrenat pe imagini nedecupate, pentru că pozele reale nu sunt decupate exact. Limită de știut: modelul alege mereu unul din cele 43 de semne, chiar dacă poza nu e un semn.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În concluzie: o rețea mică, proiectată pentru problemă, bate o rețea mare pre-antrenată, cu 99% acuratețe și de 18 ori mai puțin spațiu. Codul are 132 de teste automate. Pasul următor e detecția: găsirea semnelor în poze întregi de stradă, cu YOLO, și apoi video.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Vă mulțumim. Codul, rezultatele și instrucțiunile de instalare sunt în README-ul de pe GitHub.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u">
    <p:bg>
      <p:bgPr>
        <a:solidFill>
          <a:schemeClr val="accent4"/>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11480" y="1417320"/>
            <a:ext cx="6949440" cy="1371600"/>
          </a:xfrm>
          <a:prstGeom prst="rect">
            <a:avLst/>
          </a:prstGeom>
          <a:noFill/>
          <a:ln/>
        </p:spPr>
        <p:txBody>
          <a:bodyPr wrap="square" rtlCol="0"/>
          <a:lstStyle>
            <a:lvl1pPr algn="l" indent="0" marL="0">
              <a:buNone/>
              <a:defRPr lang="en-US" sz="3600" b="1" dirty="0">
                <a:solidFill>
                  <a:schemeClr val="bg1"/>
                </a:solidFill>
              </a:defRPr>
            </a:lvl1pPr>
          </a:lstStyle>
          <a:p>
            <a:pPr algn="l" indent="0" marL="0">
              <a:buNone/>
            </a:pPr>
            <a:endParaRPr lang="en-US" sz="3600" dirty="0"/>
          </a:p>
        </p:txBody>
      </p:sp>
      <p:sp>
        <p:nvSpPr>
          <p:cNvPr id="3" name="Text 0"/>
          <p:cNvSpPr/>
          <p:nvPr>
            <p:ph idx="101" type="body" hasCustomPrompt="1"/>
          </p:nvPr>
        </p:nvSpPr>
        <p:spPr>
          <a:xfrm>
            <a:off x="411480" y="2926080"/>
            <a:ext cx="6949440" cy="1097280"/>
          </a:xfrm>
          <a:prstGeom prst="rect">
            <a:avLst/>
          </a:prstGeom>
          <a:noFill/>
          <a:ln/>
        </p:spPr>
        <p:txBody>
          <a:bodyPr wrap="square" rtlCol="0"/>
          <a:lstStyle>
            <a:lvl1pPr algn="l" indent="0" marL="0">
              <a:buNone/>
              <a:defRPr lang="en-US" sz="1600" dirty="0">
                <a:solidFill>
                  <a:schemeClr val="accent5"/>
                </a:solidFill>
              </a:defRPr>
            </a:lvl1pPr>
          </a:lstStyle>
          <a:p>
            <a:pPr algn="l" indent="0" marL="0">
              <a:buNone/>
            </a:pPr>
            <a:endParaRPr lang="en-US" sz="16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inu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11480" y="256032"/>
            <a:ext cx="8321040" cy="502920"/>
          </a:xfrm>
          <a:prstGeom prst="rect">
            <a:avLst/>
          </a:prstGeom>
          <a:noFill/>
          <a:ln/>
        </p:spPr>
        <p:txBody>
          <a:bodyPr wrap="square" rtlCol="0"/>
          <a:lstStyle>
            <a:lvl1pPr algn="l" indent="0" marL="0">
              <a:buNone/>
              <a:defRPr lang="en-US" sz="2600" b="1" dirty="0">
                <a:solidFill>
                  <a:schemeClr val="tx1"/>
                </a:solidFill>
              </a:defRPr>
            </a:lvl1pPr>
          </a:lstStyle>
          <a:p>
            <a:pPr algn="l" indent="0" marL="0">
              <a:buNone/>
            </a:pPr>
            <a:endParaRPr lang="en-US" sz="2600" dirty="0"/>
          </a:p>
        </p:txBody>
      </p:sp>
      <p:sp>
        <p:nvSpPr>
          <p:cNvPr id="3" name="Text 0"/>
          <p:cNvSpPr/>
          <p:nvPr>
            <p:ph idx="101" type="body" hasCustomPrompt="1"/>
          </p:nvPr>
        </p:nvSpPr>
        <p:spPr>
          <a:xfrm>
            <a:off x="411480" y="786384"/>
            <a:ext cx="8321040" cy="320040"/>
          </a:xfrm>
          <a:prstGeom prst="rect">
            <a:avLst/>
          </a:prstGeom>
          <a:noFill/>
          <a:ln/>
        </p:spPr>
        <p:txBody>
          <a:bodyPr wrap="square" rtlCol="0"/>
          <a:lstStyle>
            <a:lvl1pPr algn="l" indent="0" marL="0">
              <a:buNone/>
              <a:defRPr lang="en-US" sz="1400" dirty="0">
                <a:solidFill>
                  <a:schemeClr val="tx2"/>
                </a:solidFill>
              </a:defRPr>
            </a:lvl1pPr>
          </a:lstStyle>
          <a:p>
            <a:pPr algn="l" indent="0" marL="0">
              <a:buNone/>
            </a:pPr>
            <a:endParaRPr lang="en-US" sz="1400" dirty="0"/>
          </a:p>
        </p:txBody>
      </p:sp>
      <p:sp>
        <p:nvSpPr>
          <p:cNvPr id="25" name="Slide Number Placeholder 0"/>
          <p:cNvSpPr>
            <a:spLocks noGrp="1"/>
          </p:cNvSpPr>
          <p:nvPr>
            <p:ph type="sldNum" sz="quarter" idx="4294967295"/>
          </p:nvPr>
        </p:nvSpPr>
        <p:spPr>
          <a:xfrm>
            <a:off x="8503920" y="4754880"/>
            <a:ext cx="36576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Figura">
    <p:bg>
      <p:bgPr>
        <a:solidFill>
          <a:schemeClr val="bg1"/>
        </a:solidFill>
      </p:bgPr>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503920" y="4754880"/>
            <a:ext cx="36576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503920" y="4754880"/>
            <a:ext cx="36576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4.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4.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4.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4.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4.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4.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4.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jpg"/><Relationship Id="rId2" Type="http://schemas.openxmlformats.org/officeDocument/2006/relationships/slideLayout" Target="../slideLayouts/slideLayout3.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hyperlink" Target="https://github.com/GalanIonut/traffic-sign-recognition" TargetMode="External"/><Relationship Id="rId2" Type="http://schemas.openxmlformats.org/officeDocument/2006/relationships/image" Target="../media/image-18-1.png"/><Relationship Id="rId3" Type="http://schemas.openxmlformats.org/officeDocument/2006/relationships/slideLayout" Target="../slideLayouts/slideLayout2.xml"/><Relationship Id="rId4"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411480" y="1417320"/>
            <a:ext cx="6949440" cy="1371600"/>
          </a:xfrm>
          <a:prstGeom prst="rect">
            <a:avLst/>
          </a:prstGeom>
          <a:noFill/>
          <a:ln/>
        </p:spPr>
        <p:txBody>
          <a:bodyPr wrap="square" lIns="0" tIns="0" rIns="0" bIns="0" rtlCol="0" anchor="b"/>
          <a:lstStyle/>
          <a:p>
            <a:pPr algn="l" indent="0" marL="0">
              <a:buNone/>
            </a:pPr>
            <a:r>
              <a:rPr lang="en-US" sz="3600" b="1" dirty="0">
                <a:solidFill>
                  <a:schemeClr val="bg1"/>
                </a:solidFill>
              </a:rPr>
              <a:t>Recunoașterea semnelor de circulație cu rețele neuronale</a:t>
            </a:r>
            <a:endParaRPr lang="en-US" sz="3600" dirty="0"/>
          </a:p>
        </p:txBody>
      </p:sp>
      <p:sp>
        <p:nvSpPr>
          <p:cNvPr id="3" name="Text 0"/>
          <p:cNvSpPr/>
          <p:nvPr>
            <p:ph idx="101" type="body" hasCustomPrompt="1"/>
          </p:nvPr>
        </p:nvSpPr>
        <p:spPr>
          <a:xfrm>
            <a:off x="411480" y="2926080"/>
            <a:ext cx="6949440" cy="1097280"/>
          </a:xfrm>
          <a:prstGeom prst="rect">
            <a:avLst/>
          </a:prstGeom>
          <a:noFill/>
          <a:ln/>
        </p:spPr>
        <p:txBody>
          <a:bodyPr wrap="square" lIns="0" tIns="0" rIns="0" bIns="0" rtlCol="0" anchor="t"/>
          <a:lstStyle/>
          <a:p>
            <a:pPr algn="l" indent="0" marL="0">
              <a:buNone/>
            </a:pPr>
            <a:r>
              <a:rPr lang="en-US" sz="1600" dirty="0">
                <a:solidFill>
                  <a:schemeClr val="accent5"/>
                </a:solidFill>
              </a:rPr>
              <a:t>CNN propriu vs. ResNet50 pe setul GTSRB, cu aplicație web</a:t>
            </a:r>
            <a:endParaRPr lang="en-US" sz="1600" dirty="0"/>
          </a:p>
          <a:p>
            <a:pPr algn="l" indent="0" marL="0">
              <a:buNone/>
            </a:pPr>
            <a:r>
              <a:rPr lang="en-US" sz="1600" dirty="0">
                <a:solidFill>
                  <a:schemeClr val="accent5"/>
                </a:solidFill>
              </a:rPr>
              <a:t>Tehnici de Inteligență Artificială · Echipa: [nume 1], [nume 2], [nume 3]</a:t>
            </a:r>
            <a:endParaRPr lang="en-US" sz="1600" dirty="0"/>
          </a:p>
        </p:txBody>
      </p:sp>
      <p:pic>
        <p:nvPicPr>
          <p:cNvPr id="4" name="semn stop" descr="Semnul Stop">    </p:cNvPr>
          <p:cNvPicPr>
            <a:picLocks noChangeAspect="1"/>
          </p:cNvPicPr>
          <p:nvPr/>
        </p:nvPicPr>
        <p:blipFill>
          <a:blip r:embed="rId1"/>
          <a:stretch>
            <a:fillRect/>
          </a:stretch>
        </p:blipFill>
        <p:spPr>
          <a:xfrm>
            <a:off x="7452360" y="1600200"/>
            <a:ext cx="1234440" cy="123444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11480" y="256032"/>
            <a:ext cx="8321040" cy="502920"/>
          </a:xfrm>
          <a:prstGeom prst="rect">
            <a:avLst/>
          </a:prstGeom>
          <a:noFill/>
          <a:ln/>
        </p:spPr>
        <p:txBody>
          <a:bodyPr wrap="square" lIns="0" tIns="0" rIns="0" bIns="0" rtlCol="0" anchor="t"/>
          <a:lstStyle/>
          <a:p>
            <a:pPr algn="l" indent="0" marL="0">
              <a:buNone/>
            </a:pPr>
            <a:r>
              <a:rPr lang="en-US" sz="2600" b="1" dirty="0">
                <a:solidFill>
                  <a:schemeClr val="tx1"/>
                </a:solidFill>
              </a:rPr>
              <a:t>Ce ne-am propus</a:t>
            </a:r>
            <a:endParaRPr lang="en-US" sz="2600" dirty="0"/>
          </a:p>
        </p:txBody>
      </p:sp>
      <p:sp>
        <p:nvSpPr>
          <p:cNvPr id="3" name="Text 0"/>
          <p:cNvSpPr/>
          <p:nvPr>
            <p:ph idx="101" type="body" hasCustomPrompt="1"/>
          </p:nvPr>
        </p:nvSpPr>
        <p:spPr>
          <a:xfrm>
            <a:off x="411480" y="786384"/>
            <a:ext cx="8321040" cy="320040"/>
          </a:xfrm>
          <a:prstGeom prst="rect">
            <a:avLst/>
          </a:prstGeom>
          <a:noFill/>
          <a:ln/>
        </p:spPr>
        <p:txBody>
          <a:bodyPr wrap="square" lIns="0" tIns="0" rIns="0" bIns="0" rtlCol="0" anchor="t"/>
          <a:lstStyle/>
          <a:p>
            <a:pPr algn="l" indent="0" marL="0">
              <a:buNone/>
            </a:pPr>
            <a:r>
              <a:rPr lang="en-US" sz="1400" dirty="0">
                <a:solidFill>
                  <a:schemeClr val="tx2"/>
                </a:solidFill>
              </a:rPr>
              <a:t>O poză cu un semn intră, numele semnului iese, din 43 de tipuri posibile</a:t>
            </a:r>
            <a:endParaRPr lang="en-US" sz="1400" dirty="0"/>
          </a:p>
        </p:txBody>
      </p:sp>
      <p:sp>
        <p:nvSpPr>
          <p:cNvPr id="4" name="card 1"/>
          <p:cNvSpPr/>
          <p:nvPr/>
        </p:nvSpPr>
        <p:spPr>
          <a:xfrm>
            <a:off x="411480" y="1417320"/>
            <a:ext cx="2651760" cy="2148840"/>
          </a:xfrm>
          <a:prstGeom prst="roundRect">
            <a:avLst>
              <a:gd name="adj" fmla="val 3404"/>
            </a:avLst>
          </a:prstGeom>
          <a:solidFill>
            <a:schemeClr val="bg2"/>
          </a:solidFill>
          <a:ln w="9525">
            <a:solidFill>
              <a:schemeClr val="accent5"/>
            </a:solidFill>
            <a:prstDash val="solid"/>
          </a:ln>
        </p:spPr>
      </p:sp>
      <p:sp>
        <p:nvSpPr>
          <p:cNvPr id="5" name="badge 1"/>
          <p:cNvSpPr/>
          <p:nvPr/>
        </p:nvSpPr>
        <p:spPr>
          <a:xfrm>
            <a:off x="640080" y="1645920"/>
            <a:ext cx="384048" cy="384048"/>
          </a:xfrm>
          <a:prstGeom prst="ellipse">
            <a:avLst/>
          </a:prstGeom>
          <a:solidFill>
            <a:schemeClr val="accent1"/>
          </a:solidFill>
          <a:ln/>
        </p:spPr>
      </p:sp>
      <p:sp>
        <p:nvSpPr>
          <p:cNvPr id="6" name="Text 4"/>
          <p:cNvSpPr txBox="1"/>
          <p:nvPr/>
        </p:nvSpPr>
        <p:spPr>
          <a:xfrm>
            <a:off x="640080" y="1645920"/>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7" name="Text 5"/>
          <p:cNvSpPr txBox="1"/>
          <p:nvPr/>
        </p:nvSpPr>
        <p:spPr>
          <a:xfrm>
            <a:off x="640080" y="2148840"/>
            <a:ext cx="2240280" cy="365760"/>
          </a:xfrm>
          <a:prstGeom prst="rect">
            <a:avLst/>
          </a:prstGeom>
          <a:noFill/>
          <a:ln/>
        </p:spPr>
        <p:txBody>
          <a:bodyPr wrap="square" lIns="0" tIns="0" rIns="0" bIns="0" rtlCol="0" anchor="ctr"/>
          <a:lstStyle/>
          <a:p>
            <a:pPr indent="0" marL="0">
              <a:buNone/>
            </a:pPr>
            <a:r>
              <a:rPr lang="en-US" sz="1600" b="1" dirty="0">
                <a:solidFill>
                  <a:schemeClr val="tx1"/>
                </a:solidFill>
              </a:rPr>
              <a:t>Arhitectură proprie</a:t>
            </a:r>
            <a:endParaRPr lang="en-US" sz="1600" dirty="0"/>
          </a:p>
        </p:txBody>
      </p:sp>
      <p:sp>
        <p:nvSpPr>
          <p:cNvPr id="8" name="Text 6"/>
          <p:cNvSpPr txBox="1"/>
          <p:nvPr/>
        </p:nvSpPr>
        <p:spPr>
          <a:xfrm>
            <a:off x="640080" y="2560320"/>
            <a:ext cx="2240280" cy="868680"/>
          </a:xfrm>
          <a:prstGeom prst="rect">
            <a:avLst/>
          </a:prstGeom>
          <a:noFill/>
          <a:ln/>
        </p:spPr>
        <p:txBody>
          <a:bodyPr wrap="square" lIns="0" tIns="0" rIns="0" bIns="0" rtlCol="0" anchor="t"/>
          <a:lstStyle/>
          <a:p>
            <a:pPr indent="0" marL="0">
              <a:buNone/>
            </a:pPr>
            <a:r>
              <a:rPr lang="en-US" sz="1300" dirty="0">
                <a:solidFill>
                  <a:schemeClr val="tx2"/>
                </a:solidFill>
              </a:rPr>
              <a:t>CNN construit de la zero în TensorFlow / Keras, antrenat pe 39.209 imagini.</a:t>
            </a:r>
            <a:endParaRPr lang="en-US" sz="1300" dirty="0"/>
          </a:p>
        </p:txBody>
      </p:sp>
      <p:sp>
        <p:nvSpPr>
          <p:cNvPr id="9" name="card 2"/>
          <p:cNvSpPr/>
          <p:nvPr/>
        </p:nvSpPr>
        <p:spPr>
          <a:xfrm>
            <a:off x="3246120" y="1417320"/>
            <a:ext cx="2651760" cy="2148840"/>
          </a:xfrm>
          <a:prstGeom prst="roundRect">
            <a:avLst>
              <a:gd name="adj" fmla="val 3404"/>
            </a:avLst>
          </a:prstGeom>
          <a:solidFill>
            <a:schemeClr val="bg2"/>
          </a:solidFill>
          <a:ln w="9525">
            <a:solidFill>
              <a:schemeClr val="accent5"/>
            </a:solidFill>
            <a:prstDash val="solid"/>
          </a:ln>
        </p:spPr>
      </p:sp>
      <p:sp>
        <p:nvSpPr>
          <p:cNvPr id="10" name="badge 2"/>
          <p:cNvSpPr/>
          <p:nvPr/>
        </p:nvSpPr>
        <p:spPr>
          <a:xfrm>
            <a:off x="3474720" y="1645920"/>
            <a:ext cx="384048" cy="384048"/>
          </a:xfrm>
          <a:prstGeom prst="ellipse">
            <a:avLst/>
          </a:prstGeom>
          <a:solidFill>
            <a:schemeClr val="accent2"/>
          </a:solidFill>
          <a:ln/>
        </p:spPr>
      </p:sp>
      <p:sp>
        <p:nvSpPr>
          <p:cNvPr id="11" name="Text 9"/>
          <p:cNvSpPr txBox="1"/>
          <p:nvPr/>
        </p:nvSpPr>
        <p:spPr>
          <a:xfrm>
            <a:off x="3474720" y="1645920"/>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2" name="Text 10"/>
          <p:cNvSpPr txBox="1"/>
          <p:nvPr/>
        </p:nvSpPr>
        <p:spPr>
          <a:xfrm>
            <a:off x="3474720" y="2148840"/>
            <a:ext cx="2240280" cy="365760"/>
          </a:xfrm>
          <a:prstGeom prst="rect">
            <a:avLst/>
          </a:prstGeom>
          <a:noFill/>
          <a:ln/>
        </p:spPr>
        <p:txBody>
          <a:bodyPr wrap="square" lIns="0" tIns="0" rIns="0" bIns="0" rtlCol="0" anchor="ctr"/>
          <a:lstStyle/>
          <a:p>
            <a:pPr indent="0" marL="0">
              <a:buNone/>
            </a:pPr>
            <a:r>
              <a:rPr lang="en-US" sz="1600" b="1" dirty="0">
                <a:solidFill>
                  <a:schemeClr val="tx1"/>
                </a:solidFill>
              </a:rPr>
              <a:t>Arhitectură consacrată</a:t>
            </a:r>
            <a:endParaRPr lang="en-US" sz="1600" dirty="0"/>
          </a:p>
        </p:txBody>
      </p:sp>
      <p:sp>
        <p:nvSpPr>
          <p:cNvPr id="13" name="Text 11"/>
          <p:cNvSpPr txBox="1"/>
          <p:nvPr/>
        </p:nvSpPr>
        <p:spPr>
          <a:xfrm>
            <a:off x="3474720" y="2560320"/>
            <a:ext cx="2240280" cy="868680"/>
          </a:xfrm>
          <a:prstGeom prst="rect">
            <a:avLst/>
          </a:prstGeom>
          <a:noFill/>
          <a:ln/>
        </p:spPr>
        <p:txBody>
          <a:bodyPr wrap="square" lIns="0" tIns="0" rIns="0" bIns="0" rtlCol="0" anchor="t"/>
          <a:lstStyle/>
          <a:p>
            <a:pPr indent="0" marL="0">
              <a:buNone/>
            </a:pPr>
            <a:r>
              <a:rPr lang="en-US" sz="1300" dirty="0">
                <a:solidFill>
                  <a:schemeClr val="tx2"/>
                </a:solidFill>
              </a:rPr>
              <a:t>ResNet50 pre-antrenat pe ImageNet, adaptat prin fine-tuning, în aceleași condiții.</a:t>
            </a:r>
            <a:endParaRPr lang="en-US" sz="1300" dirty="0"/>
          </a:p>
        </p:txBody>
      </p:sp>
      <p:sp>
        <p:nvSpPr>
          <p:cNvPr id="14" name="card 3"/>
          <p:cNvSpPr/>
          <p:nvPr/>
        </p:nvSpPr>
        <p:spPr>
          <a:xfrm>
            <a:off x="6080760" y="1417320"/>
            <a:ext cx="2651760" cy="2148840"/>
          </a:xfrm>
          <a:prstGeom prst="roundRect">
            <a:avLst>
              <a:gd name="adj" fmla="val 3404"/>
            </a:avLst>
          </a:prstGeom>
          <a:solidFill>
            <a:schemeClr val="bg2"/>
          </a:solidFill>
          <a:ln w="9525">
            <a:solidFill>
              <a:schemeClr val="accent5"/>
            </a:solidFill>
            <a:prstDash val="solid"/>
          </a:ln>
        </p:spPr>
      </p:sp>
      <p:sp>
        <p:nvSpPr>
          <p:cNvPr id="15" name="badge 3"/>
          <p:cNvSpPr/>
          <p:nvPr/>
        </p:nvSpPr>
        <p:spPr>
          <a:xfrm>
            <a:off x="6309360" y="1645920"/>
            <a:ext cx="384048" cy="384048"/>
          </a:xfrm>
          <a:prstGeom prst="ellipse">
            <a:avLst/>
          </a:prstGeom>
          <a:solidFill>
            <a:schemeClr val="accent3"/>
          </a:solidFill>
          <a:ln/>
        </p:spPr>
      </p:sp>
      <p:sp>
        <p:nvSpPr>
          <p:cNvPr id="16" name="Text 14"/>
          <p:cNvSpPr txBox="1"/>
          <p:nvPr/>
        </p:nvSpPr>
        <p:spPr>
          <a:xfrm>
            <a:off x="6309360" y="1645920"/>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7" name="Text 15"/>
          <p:cNvSpPr txBox="1"/>
          <p:nvPr/>
        </p:nvSpPr>
        <p:spPr>
          <a:xfrm>
            <a:off x="6309360" y="2148840"/>
            <a:ext cx="2240280" cy="365760"/>
          </a:xfrm>
          <a:prstGeom prst="rect">
            <a:avLst/>
          </a:prstGeom>
          <a:noFill/>
          <a:ln/>
        </p:spPr>
        <p:txBody>
          <a:bodyPr wrap="square" lIns="0" tIns="0" rIns="0" bIns="0" rtlCol="0" anchor="ctr"/>
          <a:lstStyle/>
          <a:p>
            <a:pPr indent="0" marL="0">
              <a:buNone/>
            </a:pPr>
            <a:r>
              <a:rPr lang="en-US" sz="1600" b="1" dirty="0">
                <a:solidFill>
                  <a:schemeClr val="tx1"/>
                </a:solidFill>
              </a:rPr>
              <a:t>Aplicație web</a:t>
            </a:r>
            <a:endParaRPr lang="en-US" sz="1600" dirty="0"/>
          </a:p>
        </p:txBody>
      </p:sp>
      <p:sp>
        <p:nvSpPr>
          <p:cNvPr id="18" name="Text 16"/>
          <p:cNvSpPr txBox="1"/>
          <p:nvPr/>
        </p:nvSpPr>
        <p:spPr>
          <a:xfrm>
            <a:off x="6309360" y="2560320"/>
            <a:ext cx="2240280" cy="868680"/>
          </a:xfrm>
          <a:prstGeom prst="rect">
            <a:avLst/>
          </a:prstGeom>
          <a:noFill/>
          <a:ln/>
        </p:spPr>
        <p:txBody>
          <a:bodyPr wrap="square" lIns="0" tIns="0" rIns="0" bIns="0" rtlCol="0" anchor="t"/>
          <a:lstStyle/>
          <a:p>
            <a:pPr indent="0" marL="0">
              <a:buNone/>
            </a:pPr>
            <a:r>
              <a:rPr lang="en-US" sz="1300" dirty="0">
                <a:solidFill>
                  <a:schemeClr val="tx2"/>
                </a:solidFill>
              </a:rPr>
              <a:t>Interfață Streamlit: încarci o imagine și vezi semnul, încrederea și top 3.</a:t>
            </a:r>
            <a:endParaRPr lang="en-US" sz="1300" dirty="0"/>
          </a:p>
        </p:txBody>
      </p:sp>
      <p:sp>
        <p:nvSpPr>
          <p:cNvPr id="19" name="Text 17"/>
          <p:cNvSpPr txBox="1"/>
          <p:nvPr/>
        </p:nvSpPr>
        <p:spPr>
          <a:xfrm>
            <a:off x="411480" y="3886200"/>
            <a:ext cx="8229600" cy="411480"/>
          </a:xfrm>
          <a:prstGeom prst="rect">
            <a:avLst/>
          </a:prstGeom>
          <a:noFill/>
          <a:ln/>
        </p:spPr>
        <p:txBody>
          <a:bodyPr wrap="square" lIns="0" tIns="0" rIns="0" bIns="0" rtlCol="0" anchor="ctr"/>
          <a:lstStyle/>
          <a:p>
            <a:pPr indent="0" marL="0">
              <a:buNone/>
            </a:pPr>
            <a:r>
              <a:rPr lang="en-US" sz="1500" b="1" dirty="0">
                <a:solidFill>
                  <a:schemeClr val="tx1"/>
                </a:solidFill>
              </a:rPr>
              <a:t>Rezultat: </a:t>
            </a:r>
            <a:pPr indent="0" marL="0">
              <a:buNone/>
            </a:pPr>
            <a:r>
              <a:rPr lang="en-US" sz="1500" dirty="0">
                <a:solidFill>
                  <a:schemeClr val="tx2"/>
                </a:solidFill>
              </a:rPr>
              <a:t>CNN-ul propriu ajunge la </a:t>
            </a:r>
            <a:pPr indent="0" marL="0">
              <a:buNone/>
            </a:pPr>
            <a:r>
              <a:rPr lang="en-US" sz="1500" b="1" dirty="0">
                <a:solidFill>
                  <a:schemeClr val="accent1"/>
                </a:solidFill>
              </a:rPr>
              <a:t>99,03%</a:t>
            </a:r>
            <a:pPr indent="0" marL="0">
              <a:buNone/>
            </a:pPr>
            <a:r>
              <a:rPr lang="en-US" sz="1500" dirty="0">
                <a:solidFill>
                  <a:schemeClr val="tx2"/>
                </a:solidFill>
              </a:rPr>
              <a:t> acuratețe pe setul de test, peste ResNet50 (97,81%).</a:t>
            </a:r>
            <a:endParaRPr lang="en-US" sz="1500" dirty="0"/>
          </a:p>
        </p:txBody>
      </p:sp>
      <p:sp>
        <p:nvSpPr>
          <p:cNvPr id="25" name="Slide Number Placeholder 0"/>
          <p:cNvSpPr>
            <a:spLocks noGrp="1"/>
          </p:cNvSpPr>
          <p:nvPr>
            <p:ph type="sldNum" sz="quarter" idx="4294967295"/>
          </p:nvPr>
        </p:nvSpPr>
        <p:spPr>
          <a:xfrm>
            <a:off x="8503920" y="4754880"/>
            <a:ext cx="36576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figura" descr="Setul GTSRB: 39.209 imagini de antrenare, 12.630 de test, 43 de tipuri, ~51x51 pixeli">    </p:cNvPr>
          <p:cNvPicPr>
            <a:picLocks noChangeAspect="1"/>
          </p:cNvPicPr>
          <p:nvPr/>
        </p:nvPicPr>
        <p:blipFill>
          <a:blip r:embed="rId1"/>
          <a:stretch>
            <a:fillRect/>
          </a:stretch>
        </p:blipFill>
        <p:spPr>
          <a:xfrm>
            <a:off x="0" y="0"/>
            <a:ext cx="9144000" cy="5143500"/>
          </a:xfrm>
          <a:prstGeom prst="rect">
            <a:avLst/>
          </a:prstGeom>
        </p:spPr>
      </p:pic>
      <p:sp>
        <p:nvSpPr>
          <p:cNvPr id="25" name="Slide Number Placeholder 0"/>
          <p:cNvSpPr>
            <a:spLocks noGrp="1"/>
          </p:cNvSpPr>
          <p:nvPr>
            <p:ph type="sldNum" sz="quarter" idx="4294967295"/>
          </p:nvPr>
        </p:nvSpPr>
        <p:spPr>
          <a:xfrm>
            <a:off x="8503920" y="4754880"/>
            <a:ext cx="36576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11480" y="256032"/>
            <a:ext cx="8321040" cy="502920"/>
          </a:xfrm>
          <a:prstGeom prst="rect">
            <a:avLst/>
          </a:prstGeom>
          <a:noFill/>
          <a:ln/>
        </p:spPr>
        <p:txBody>
          <a:bodyPr wrap="square" lIns="0" tIns="0" rIns="0" bIns="0" rtlCol="0" anchor="t"/>
          <a:lstStyle/>
          <a:p>
            <a:pPr algn="l" indent="0" marL="0">
              <a:buNone/>
            </a:pPr>
            <a:r>
              <a:rPr lang="en-US" sz="2600" b="1" dirty="0">
                <a:solidFill>
                  <a:schemeClr val="tx1"/>
                </a:solidFill>
              </a:rPr>
              <a:t>Pregătirea datelor</a:t>
            </a:r>
            <a:endParaRPr lang="en-US" sz="2600" dirty="0"/>
          </a:p>
        </p:txBody>
      </p:sp>
      <p:sp>
        <p:nvSpPr>
          <p:cNvPr id="3" name="Text 0"/>
          <p:cNvSpPr/>
          <p:nvPr>
            <p:ph idx="101" type="body" hasCustomPrompt="1"/>
          </p:nvPr>
        </p:nvSpPr>
        <p:spPr>
          <a:xfrm>
            <a:off x="411480" y="786384"/>
            <a:ext cx="8321040" cy="320040"/>
          </a:xfrm>
          <a:prstGeom prst="rect">
            <a:avLst/>
          </a:prstGeom>
          <a:noFill/>
          <a:ln/>
        </p:spPr>
        <p:txBody>
          <a:bodyPr wrap="square" lIns="0" tIns="0" rIns="0" bIns="0" rtlCol="0" anchor="t"/>
          <a:lstStyle/>
          <a:p>
            <a:pPr algn="l" indent="0" marL="0">
              <a:buNone/>
            </a:pPr>
            <a:r>
              <a:rPr lang="en-US" sz="1400" dirty="0">
                <a:solidFill>
                  <a:schemeClr val="tx2"/>
                </a:solidFill>
              </a:rPr>
              <a:t>Patru pași înainte ca rețeaua să vadă vreo imagine</a:t>
            </a:r>
            <a:endParaRPr lang="en-US" sz="1400" dirty="0"/>
          </a:p>
        </p:txBody>
      </p:sp>
      <p:sp>
        <p:nvSpPr>
          <p:cNvPr id="4" name="badge 1"/>
          <p:cNvSpPr/>
          <p:nvPr/>
        </p:nvSpPr>
        <p:spPr>
          <a:xfrm>
            <a:off x="411480" y="1325880"/>
            <a:ext cx="384048" cy="384048"/>
          </a:xfrm>
          <a:prstGeom prst="ellipse">
            <a:avLst/>
          </a:prstGeom>
          <a:solidFill>
            <a:schemeClr val="accent1"/>
          </a:solidFill>
          <a:ln/>
        </p:spPr>
      </p:sp>
      <p:sp>
        <p:nvSpPr>
          <p:cNvPr id="5" name="Text 3"/>
          <p:cNvSpPr txBox="1"/>
          <p:nvPr/>
        </p:nvSpPr>
        <p:spPr>
          <a:xfrm>
            <a:off x="411480" y="1325880"/>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6" name="Text 4"/>
          <p:cNvSpPr txBox="1"/>
          <p:nvPr/>
        </p:nvSpPr>
        <p:spPr>
          <a:xfrm>
            <a:off x="960120" y="1307592"/>
            <a:ext cx="4206240" cy="292608"/>
          </a:xfrm>
          <a:prstGeom prst="rect">
            <a:avLst/>
          </a:prstGeom>
          <a:noFill/>
          <a:ln/>
        </p:spPr>
        <p:txBody>
          <a:bodyPr wrap="square" lIns="0" tIns="0" rIns="0" bIns="0" rtlCol="0" anchor="ctr"/>
          <a:lstStyle/>
          <a:p>
            <a:pPr indent="0" marL="0">
              <a:buNone/>
            </a:pPr>
            <a:r>
              <a:rPr lang="en-US" sz="1500" b="1" dirty="0">
                <a:solidFill>
                  <a:schemeClr val="tx1"/>
                </a:solidFill>
              </a:rPr>
              <a:t>Împărțire pe track-uri</a:t>
            </a:r>
            <a:endParaRPr lang="en-US" sz="1500" dirty="0"/>
          </a:p>
        </p:txBody>
      </p:sp>
      <p:sp>
        <p:nvSpPr>
          <p:cNvPr id="7" name="Text 5"/>
          <p:cNvSpPr txBox="1"/>
          <p:nvPr/>
        </p:nvSpPr>
        <p:spPr>
          <a:xfrm>
            <a:off x="960120" y="1600200"/>
            <a:ext cx="4206240" cy="502920"/>
          </a:xfrm>
          <a:prstGeom prst="rect">
            <a:avLst/>
          </a:prstGeom>
          <a:noFill/>
          <a:ln/>
        </p:spPr>
        <p:txBody>
          <a:bodyPr wrap="square" lIns="0" tIns="0" rIns="0" bIns="0" rtlCol="0" anchor="t"/>
          <a:lstStyle/>
          <a:p>
            <a:pPr indent="0" marL="0">
              <a:buNone/>
            </a:pPr>
            <a:r>
              <a:rPr lang="en-US" sz="1200" dirty="0">
                <a:solidFill>
                  <a:schemeClr val="tx2"/>
                </a:solidFill>
              </a:rPr>
              <a:t>Cele 30 de cadre ale aceluiași semn fizic stau în același set. Train 33.359, validare 5.850, 0 track-uri comune.</a:t>
            </a:r>
            <a:endParaRPr lang="en-US" sz="1200" dirty="0"/>
          </a:p>
        </p:txBody>
      </p:sp>
      <p:sp>
        <p:nvSpPr>
          <p:cNvPr id="8" name="badge 2"/>
          <p:cNvSpPr/>
          <p:nvPr/>
        </p:nvSpPr>
        <p:spPr>
          <a:xfrm>
            <a:off x="411480" y="2194560"/>
            <a:ext cx="384048" cy="384048"/>
          </a:xfrm>
          <a:prstGeom prst="ellipse">
            <a:avLst/>
          </a:prstGeom>
          <a:solidFill>
            <a:schemeClr val="accent1"/>
          </a:solidFill>
          <a:ln/>
        </p:spPr>
      </p:sp>
      <p:sp>
        <p:nvSpPr>
          <p:cNvPr id="9" name="Text 7"/>
          <p:cNvSpPr txBox="1"/>
          <p:nvPr/>
        </p:nvSpPr>
        <p:spPr>
          <a:xfrm>
            <a:off x="411480" y="2194560"/>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0" name="Text 8"/>
          <p:cNvSpPr txBox="1"/>
          <p:nvPr/>
        </p:nvSpPr>
        <p:spPr>
          <a:xfrm>
            <a:off x="960120" y="2176272"/>
            <a:ext cx="4206240" cy="292608"/>
          </a:xfrm>
          <a:prstGeom prst="rect">
            <a:avLst/>
          </a:prstGeom>
          <a:noFill/>
          <a:ln/>
        </p:spPr>
        <p:txBody>
          <a:bodyPr wrap="square" lIns="0" tIns="0" rIns="0" bIns="0" rtlCol="0" anchor="ctr"/>
          <a:lstStyle/>
          <a:p>
            <a:pPr indent="0" marL="0">
              <a:buNone/>
            </a:pPr>
            <a:r>
              <a:rPr lang="en-US" sz="1500" b="1" dirty="0">
                <a:solidFill>
                  <a:schemeClr val="tx1"/>
                </a:solidFill>
              </a:rPr>
              <a:t>Decupare și redimensionare</a:t>
            </a:r>
            <a:endParaRPr lang="en-US" sz="1500" dirty="0"/>
          </a:p>
        </p:txBody>
      </p:sp>
      <p:sp>
        <p:nvSpPr>
          <p:cNvPr id="11" name="Text 9"/>
          <p:cNvSpPr txBox="1"/>
          <p:nvPr/>
        </p:nvSpPr>
        <p:spPr>
          <a:xfrm>
            <a:off x="960120" y="2468880"/>
            <a:ext cx="4206240" cy="502920"/>
          </a:xfrm>
          <a:prstGeom prst="rect">
            <a:avLst/>
          </a:prstGeom>
          <a:noFill/>
          <a:ln/>
        </p:spPr>
        <p:txBody>
          <a:bodyPr wrap="square" lIns="0" tIns="0" rIns="0" bIns="0" rtlCol="0" anchor="t"/>
          <a:lstStyle/>
          <a:p>
            <a:pPr indent="0" marL="0">
              <a:buNone/>
            </a:pPr>
            <a:r>
              <a:rPr lang="en-US" sz="1200" dirty="0">
                <a:solidFill>
                  <a:schemeClr val="tx2"/>
                </a:solidFill>
              </a:rPr>
              <a:t>Decupăm zona semnului (ROI), micșorăm la 48×48 și aducem pixelii în intervalul [0, 1].</a:t>
            </a:r>
            <a:endParaRPr lang="en-US" sz="1200" dirty="0"/>
          </a:p>
        </p:txBody>
      </p:sp>
      <p:sp>
        <p:nvSpPr>
          <p:cNvPr id="12" name="badge 3"/>
          <p:cNvSpPr/>
          <p:nvPr/>
        </p:nvSpPr>
        <p:spPr>
          <a:xfrm>
            <a:off x="411480" y="3063240"/>
            <a:ext cx="384048" cy="384048"/>
          </a:xfrm>
          <a:prstGeom prst="ellipse">
            <a:avLst/>
          </a:prstGeom>
          <a:solidFill>
            <a:schemeClr val="accent1"/>
          </a:solidFill>
          <a:ln/>
        </p:spPr>
      </p:sp>
      <p:sp>
        <p:nvSpPr>
          <p:cNvPr id="13" name="Text 11"/>
          <p:cNvSpPr txBox="1"/>
          <p:nvPr/>
        </p:nvSpPr>
        <p:spPr>
          <a:xfrm>
            <a:off x="411480" y="3063240"/>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4" name="Text 12"/>
          <p:cNvSpPr txBox="1"/>
          <p:nvPr/>
        </p:nvSpPr>
        <p:spPr>
          <a:xfrm>
            <a:off x="960120" y="3044952"/>
            <a:ext cx="4206240" cy="292608"/>
          </a:xfrm>
          <a:prstGeom prst="rect">
            <a:avLst/>
          </a:prstGeom>
          <a:noFill/>
          <a:ln/>
        </p:spPr>
        <p:txBody>
          <a:bodyPr wrap="square" lIns="0" tIns="0" rIns="0" bIns="0" rtlCol="0" anchor="ctr"/>
          <a:lstStyle/>
          <a:p>
            <a:pPr indent="0" marL="0">
              <a:buNone/>
            </a:pPr>
            <a:r>
              <a:rPr lang="en-US" sz="1500" b="1" dirty="0">
                <a:solidFill>
                  <a:schemeClr val="tx1"/>
                </a:solidFill>
              </a:rPr>
              <a:t>Augmentare</a:t>
            </a:r>
            <a:endParaRPr lang="en-US" sz="1500" dirty="0"/>
          </a:p>
        </p:txBody>
      </p:sp>
      <p:sp>
        <p:nvSpPr>
          <p:cNvPr id="15" name="Text 13"/>
          <p:cNvSpPr txBox="1"/>
          <p:nvPr/>
        </p:nvSpPr>
        <p:spPr>
          <a:xfrm>
            <a:off x="960120" y="3337560"/>
            <a:ext cx="4206240" cy="502920"/>
          </a:xfrm>
          <a:prstGeom prst="rect">
            <a:avLst/>
          </a:prstGeom>
          <a:noFill/>
          <a:ln/>
        </p:spPr>
        <p:txBody>
          <a:bodyPr wrap="square" lIns="0" tIns="0" rIns="0" bIns="0" rtlCol="0" anchor="t"/>
          <a:lstStyle/>
          <a:p>
            <a:pPr indent="0" marL="0">
              <a:buNone/>
            </a:pPr>
            <a:r>
              <a:rPr lang="en-US" sz="1200" dirty="0">
                <a:solidFill>
                  <a:schemeClr val="tx2"/>
                </a:solidFill>
              </a:rPr>
              <a:t>Rotire ±15°, zoom, deplasare, luminozitate, contrast. Fără oglindire: semnul s-ar schimba.</a:t>
            </a:r>
            <a:endParaRPr lang="en-US" sz="1200" dirty="0"/>
          </a:p>
        </p:txBody>
      </p:sp>
      <p:sp>
        <p:nvSpPr>
          <p:cNvPr id="16" name="badge 4"/>
          <p:cNvSpPr/>
          <p:nvPr/>
        </p:nvSpPr>
        <p:spPr>
          <a:xfrm>
            <a:off x="411480" y="3931920"/>
            <a:ext cx="384048" cy="384048"/>
          </a:xfrm>
          <a:prstGeom prst="ellipse">
            <a:avLst/>
          </a:prstGeom>
          <a:solidFill>
            <a:schemeClr val="accent1"/>
          </a:solidFill>
          <a:ln/>
        </p:spPr>
      </p:sp>
      <p:sp>
        <p:nvSpPr>
          <p:cNvPr id="17" name="Text 15"/>
          <p:cNvSpPr txBox="1"/>
          <p:nvPr/>
        </p:nvSpPr>
        <p:spPr>
          <a:xfrm>
            <a:off x="411480" y="3931920"/>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18" name="Text 16"/>
          <p:cNvSpPr txBox="1"/>
          <p:nvPr/>
        </p:nvSpPr>
        <p:spPr>
          <a:xfrm>
            <a:off x="960120" y="3913632"/>
            <a:ext cx="4206240" cy="292608"/>
          </a:xfrm>
          <a:prstGeom prst="rect">
            <a:avLst/>
          </a:prstGeom>
          <a:noFill/>
          <a:ln/>
        </p:spPr>
        <p:txBody>
          <a:bodyPr wrap="square" lIns="0" tIns="0" rIns="0" bIns="0" rtlCol="0" anchor="ctr"/>
          <a:lstStyle/>
          <a:p>
            <a:pPr indent="0" marL="0">
              <a:buNone/>
            </a:pPr>
            <a:r>
              <a:rPr lang="en-US" sz="1500" b="1" dirty="0">
                <a:solidFill>
                  <a:schemeClr val="tx1"/>
                </a:solidFill>
              </a:rPr>
              <a:t>Clase dezechilibrate</a:t>
            </a:r>
            <a:endParaRPr lang="en-US" sz="1500" dirty="0"/>
          </a:p>
        </p:txBody>
      </p:sp>
      <p:sp>
        <p:nvSpPr>
          <p:cNvPr id="19" name="Text 17"/>
          <p:cNvSpPr txBox="1"/>
          <p:nvPr/>
        </p:nvSpPr>
        <p:spPr>
          <a:xfrm>
            <a:off x="960120" y="4206240"/>
            <a:ext cx="4206240" cy="502920"/>
          </a:xfrm>
          <a:prstGeom prst="rect">
            <a:avLst/>
          </a:prstGeom>
          <a:noFill/>
          <a:ln/>
        </p:spPr>
        <p:txBody>
          <a:bodyPr wrap="square" lIns="0" tIns="0" rIns="0" bIns="0" rtlCol="0" anchor="t"/>
          <a:lstStyle/>
          <a:p>
            <a:pPr indent="0" marL="0">
              <a:buNone/>
            </a:pPr>
            <a:r>
              <a:rPr lang="en-US" sz="1200" dirty="0">
                <a:solidFill>
                  <a:schemeClr val="tx2"/>
                </a:solidFill>
              </a:rPr>
              <a:t>Între 210 și 2.250 de imagini pe clasă, deci clasele rare primesc o pondere mai mare la antrenare.</a:t>
            </a:r>
            <a:endParaRPr lang="en-US" sz="1200" dirty="0"/>
          </a:p>
        </p:txBody>
      </p:sp>
      <p:pic>
        <p:nvPicPr>
          <p:cNvPr id="20" name="augmentare" descr="16 imagini de antrenare după augmentare">    </p:cNvPr>
          <p:cNvPicPr>
            <a:picLocks noChangeAspect="1"/>
          </p:cNvPicPr>
          <p:nvPr/>
        </p:nvPicPr>
        <p:blipFill>
          <a:blip r:embed="rId1"/>
          <a:stretch>
            <a:fillRect/>
          </a:stretch>
        </p:blipFill>
        <p:spPr>
          <a:xfrm>
            <a:off x="5532120" y="1188720"/>
            <a:ext cx="3200400" cy="3557016"/>
          </a:xfrm>
          <a:prstGeom prst="rect">
            <a:avLst/>
          </a:prstGeom>
        </p:spPr>
      </p:pic>
      <p:sp>
        <p:nvSpPr>
          <p:cNvPr id="25" name="Slide Number Placeholder 0"/>
          <p:cNvSpPr>
            <a:spLocks noGrp="1"/>
          </p:cNvSpPr>
          <p:nvPr>
            <p:ph type="sldNum" sz="quarter" idx="4294967295"/>
          </p:nvPr>
        </p:nvSpPr>
        <p:spPr>
          <a:xfrm>
            <a:off x="8503920" y="4754880"/>
            <a:ext cx="36576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figura" descr="De la fotografie la probabilități: decupare, 48x48, CNN, top 3">    </p:cNvPr>
          <p:cNvPicPr>
            <a:picLocks noChangeAspect="1"/>
          </p:cNvPicPr>
          <p:nvPr/>
        </p:nvPicPr>
        <p:blipFill>
          <a:blip r:embed="rId1"/>
          <a:stretch>
            <a:fillRect/>
          </a:stretch>
        </p:blipFill>
        <p:spPr>
          <a:xfrm>
            <a:off x="0" y="0"/>
            <a:ext cx="9144000" cy="5143500"/>
          </a:xfrm>
          <a:prstGeom prst="rect">
            <a:avLst/>
          </a:prstGeom>
        </p:spPr>
      </p:pic>
      <p:sp>
        <p:nvSpPr>
          <p:cNvPr id="25" name="Slide Number Placeholder 0"/>
          <p:cNvSpPr>
            <a:spLocks noGrp="1"/>
          </p:cNvSpPr>
          <p:nvPr>
            <p:ph type="sldNum" sz="quarter" idx="4294967295"/>
          </p:nvPr>
        </p:nvSpPr>
        <p:spPr>
          <a:xfrm>
            <a:off x="8503920" y="4754880"/>
            <a:ext cx="36576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11480" y="256032"/>
            <a:ext cx="8321040" cy="502920"/>
          </a:xfrm>
          <a:prstGeom prst="rect">
            <a:avLst/>
          </a:prstGeom>
          <a:noFill/>
          <a:ln/>
        </p:spPr>
        <p:txBody>
          <a:bodyPr wrap="square" lIns="0" tIns="0" rIns="0" bIns="0" rtlCol="0" anchor="t"/>
          <a:lstStyle/>
          <a:p>
            <a:pPr algn="l" indent="0" marL="0">
              <a:buNone/>
            </a:pPr>
            <a:r>
              <a:rPr lang="en-US" sz="2600" b="1" dirty="0">
                <a:solidFill>
                  <a:schemeClr val="tx1"/>
                </a:solidFill>
              </a:rPr>
              <a:t>Arhitectura proprie: 3 blocuri convoluționale</a:t>
            </a:r>
            <a:endParaRPr lang="en-US" sz="2600" dirty="0"/>
          </a:p>
        </p:txBody>
      </p:sp>
      <p:sp>
        <p:nvSpPr>
          <p:cNvPr id="3" name="Text 0"/>
          <p:cNvSpPr/>
          <p:nvPr>
            <p:ph idx="101" type="body" hasCustomPrompt="1"/>
          </p:nvPr>
        </p:nvSpPr>
        <p:spPr>
          <a:xfrm>
            <a:off x="411480" y="786384"/>
            <a:ext cx="8321040" cy="320040"/>
          </a:xfrm>
          <a:prstGeom prst="rect">
            <a:avLst/>
          </a:prstGeom>
          <a:noFill/>
          <a:ln/>
        </p:spPr>
        <p:txBody>
          <a:bodyPr wrap="square" lIns="0" tIns="0" rIns="0" bIns="0" rtlCol="0" anchor="t"/>
          <a:lstStyle/>
          <a:p>
            <a:pPr algn="l" indent="0" marL="0">
              <a:buNone/>
            </a:pPr>
            <a:r>
              <a:rPr lang="en-US" sz="1400" dirty="0">
                <a:solidFill>
                  <a:schemeClr val="tx2"/>
                </a:solidFill>
              </a:rPr>
              <a:t>1.331.275 de parametri, construită de la zero în Keras</a:t>
            </a:r>
            <a:endParaRPr lang="en-US" sz="1400" dirty="0"/>
          </a:p>
        </p:txBody>
      </p:sp>
      <p:pic>
        <p:nvPicPr>
          <p:cNvPr id="4" name="diagrama cnn" descr="Diagrama CNN-ului propriu">    </p:cNvPr>
          <p:cNvPicPr>
            <a:picLocks noChangeAspect="1"/>
          </p:cNvPicPr>
          <p:nvPr/>
        </p:nvPicPr>
        <p:blipFill>
          <a:blip r:embed="rId1"/>
          <a:stretch>
            <a:fillRect/>
          </a:stretch>
        </p:blipFill>
        <p:spPr>
          <a:xfrm>
            <a:off x="411480" y="1188720"/>
            <a:ext cx="5669280" cy="3246120"/>
          </a:xfrm>
          <a:prstGeom prst="rect">
            <a:avLst/>
          </a:prstGeom>
        </p:spPr>
      </p:pic>
      <p:sp>
        <p:nvSpPr>
          <p:cNvPr id="5" name="Text 2"/>
          <p:cNvSpPr txBox="1"/>
          <p:nvPr/>
        </p:nvSpPr>
        <p:spPr>
          <a:xfrm>
            <a:off x="6309360" y="1234440"/>
            <a:ext cx="2423160" cy="3200400"/>
          </a:xfrm>
          <a:prstGeom prst="rect">
            <a:avLst/>
          </a:prstGeom>
          <a:noFill/>
          <a:ln/>
        </p:spPr>
        <p:txBody>
          <a:bodyPr wrap="square" lIns="0" tIns="0" rIns="0" bIns="0" rtlCol="0" anchor="t"/>
          <a:lstStyle/>
          <a:p>
            <a:pPr indent="0" marL="0">
              <a:buNone/>
            </a:pPr>
            <a:r>
              <a:rPr lang="en-US" sz="1300" b="1" dirty="0">
                <a:solidFill>
                  <a:schemeClr val="tx1"/>
                </a:solidFill>
              </a:rPr>
              <a:t>Filtre 32 → 64 → 128</a:t>
            </a:r>
            <a:endParaRPr lang="en-US" sz="1300" dirty="0"/>
          </a:p>
          <a:p>
            <a:pPr indent="0" marL="0">
              <a:spcAft>
                <a:spcPts val="600"/>
              </a:spcAft>
              <a:buNone/>
            </a:pPr>
            <a:r>
              <a:rPr lang="en-US" sz="1200" dirty="0">
                <a:solidFill>
                  <a:schemeClr val="tx2"/>
                </a:solidFill>
              </a:rPr>
              <a:t>tipare tot mai complexe: margini, forme, simboluri</a:t>
            </a:r>
            <a:endParaRPr lang="en-US" sz="1300" dirty="0"/>
          </a:p>
          <a:p>
            <a:pPr indent="0" marL="0">
              <a:buNone/>
            </a:pPr>
            <a:r>
              <a:rPr lang="en-US" sz="1300" b="1" dirty="0">
                <a:solidFill>
                  <a:schemeClr val="tx1"/>
                </a:solidFill>
              </a:rPr>
              <a:t>MaxPooling</a:t>
            </a:r>
            <a:endParaRPr lang="en-US" sz="1300" dirty="0"/>
          </a:p>
          <a:p>
            <a:pPr indent="0" marL="0">
              <a:spcAft>
                <a:spcPts val="600"/>
              </a:spcAft>
              <a:buNone/>
            </a:pPr>
            <a:r>
              <a:rPr lang="en-US" sz="1200" dirty="0">
                <a:solidFill>
                  <a:schemeClr val="tx2"/>
                </a:solidFill>
              </a:rPr>
              <a:t>48 → 24 → 12 → 6 pixeli</a:t>
            </a:r>
            <a:endParaRPr lang="en-US" sz="1300" dirty="0"/>
          </a:p>
          <a:p>
            <a:pPr indent="0" marL="0">
              <a:buNone/>
            </a:pPr>
            <a:r>
              <a:rPr lang="en-US" sz="1300" b="1" dirty="0">
                <a:solidFill>
                  <a:schemeClr val="tx1"/>
                </a:solidFill>
              </a:rPr>
              <a:t>BatchNorm</a:t>
            </a:r>
            <a:endParaRPr lang="en-US" sz="1300" dirty="0"/>
          </a:p>
          <a:p>
            <a:pPr indent="0" marL="0">
              <a:spcAft>
                <a:spcPts val="600"/>
              </a:spcAft>
              <a:buNone/>
            </a:pPr>
            <a:r>
              <a:rPr lang="en-US" sz="1200" dirty="0">
                <a:solidFill>
                  <a:schemeClr val="tx2"/>
                </a:solidFill>
              </a:rPr>
              <a:t>antrenare stabilă și rapidă</a:t>
            </a:r>
            <a:endParaRPr lang="en-US" sz="1300" dirty="0"/>
          </a:p>
          <a:p>
            <a:pPr indent="0" marL="0">
              <a:buNone/>
            </a:pPr>
            <a:r>
              <a:rPr lang="en-US" sz="1300" b="1" dirty="0">
                <a:solidFill>
                  <a:schemeClr val="tx1"/>
                </a:solidFill>
              </a:rPr>
              <a:t>Dense 256 + Dropout 0,5</a:t>
            </a:r>
            <a:endParaRPr lang="en-US" sz="1300" dirty="0"/>
          </a:p>
          <a:p>
            <a:pPr indent="0" marL="0">
              <a:spcAft>
                <a:spcPts val="600"/>
              </a:spcAft>
              <a:buNone/>
            </a:pPr>
            <a:r>
              <a:rPr lang="en-US" sz="1200" dirty="0">
                <a:solidFill>
                  <a:schemeClr val="tx2"/>
                </a:solidFill>
              </a:rPr>
              <a:t>combină trăsăturile; dropout-ul previne „tocirea”</a:t>
            </a:r>
            <a:endParaRPr lang="en-US" sz="1300" dirty="0"/>
          </a:p>
          <a:p>
            <a:pPr indent="0" marL="0">
              <a:buNone/>
            </a:pPr>
            <a:r>
              <a:rPr lang="en-US" sz="1300" b="1" dirty="0">
                <a:solidFill>
                  <a:schemeClr val="tx1"/>
                </a:solidFill>
              </a:rPr>
              <a:t>Softmax 43</a:t>
            </a:r>
            <a:endParaRPr lang="en-US" sz="1300" dirty="0"/>
          </a:p>
          <a:p>
            <a:pPr indent="0" marL="0">
              <a:spcAft>
                <a:spcPts val="600"/>
              </a:spcAft>
              <a:buNone/>
            </a:pPr>
            <a:r>
              <a:rPr lang="en-US" sz="1200" dirty="0">
                <a:solidFill>
                  <a:schemeClr val="tx2"/>
                </a:solidFill>
              </a:rPr>
              <a:t>o probabilitate pentru fiecare semn</a:t>
            </a:r>
            <a:endParaRPr lang="en-US" sz="1300" dirty="0"/>
          </a:p>
        </p:txBody>
      </p:sp>
      <p:sp>
        <p:nvSpPr>
          <p:cNvPr id="25" name="Slide Number Placeholder 0"/>
          <p:cNvSpPr>
            <a:spLocks noGrp="1"/>
          </p:cNvSpPr>
          <p:nvPr>
            <p:ph type="sldNum" sz="quarter" idx="4294967295"/>
          </p:nvPr>
        </p:nvSpPr>
        <p:spPr>
          <a:xfrm>
            <a:off x="8503920" y="4754880"/>
            <a:ext cx="36576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11480" y="256032"/>
            <a:ext cx="8321040" cy="502920"/>
          </a:xfrm>
          <a:prstGeom prst="rect">
            <a:avLst/>
          </a:prstGeom>
          <a:noFill/>
          <a:ln/>
        </p:spPr>
        <p:txBody>
          <a:bodyPr wrap="square" lIns="0" tIns="0" rIns="0" bIns="0" rtlCol="0" anchor="t"/>
          <a:lstStyle/>
          <a:p>
            <a:pPr algn="l" indent="0" marL="0">
              <a:buNone/>
            </a:pPr>
            <a:r>
              <a:rPr lang="en-US" sz="2600" b="1" dirty="0">
                <a:solidFill>
                  <a:schemeClr val="tx1"/>
                </a:solidFill>
              </a:rPr>
              <a:t>Cum am antrenat și de ce</a:t>
            </a:r>
            <a:endParaRPr lang="en-US" sz="2600" dirty="0"/>
          </a:p>
        </p:txBody>
      </p:sp>
      <p:sp>
        <p:nvSpPr>
          <p:cNvPr id="3" name="Text 0"/>
          <p:cNvSpPr/>
          <p:nvPr>
            <p:ph idx="101" type="body" hasCustomPrompt="1"/>
          </p:nvPr>
        </p:nvSpPr>
        <p:spPr>
          <a:xfrm>
            <a:off x="411480" y="786384"/>
            <a:ext cx="8321040" cy="320040"/>
          </a:xfrm>
          <a:prstGeom prst="rect">
            <a:avLst/>
          </a:prstGeom>
          <a:noFill/>
          <a:ln/>
        </p:spPr>
        <p:txBody>
          <a:bodyPr wrap="square" lIns="0" tIns="0" rIns="0" bIns="0" rtlCol="0" anchor="t"/>
          <a:lstStyle/>
          <a:p>
            <a:pPr algn="l" indent="0" marL="0">
              <a:buNone/>
            </a:pPr>
            <a:r>
              <a:rPr lang="en-US" sz="1400" dirty="0">
                <a:solidFill>
                  <a:schemeClr val="tx2"/>
                </a:solidFill>
              </a:rPr>
              <a:t>Fiecare setare are un motiv</a:t>
            </a:r>
            <a:endParaRPr lang="en-US" sz="1400" dirty="0"/>
          </a:p>
        </p:txBody>
      </p:sp>
      <p:sp>
        <p:nvSpPr>
          <p:cNvPr id="4" name="card Loss"/>
          <p:cNvSpPr/>
          <p:nvPr/>
        </p:nvSpPr>
        <p:spPr>
          <a:xfrm>
            <a:off x="411480" y="1325880"/>
            <a:ext cx="1920240" cy="1417320"/>
          </a:xfrm>
          <a:prstGeom prst="roundRect">
            <a:avLst>
              <a:gd name="adj" fmla="val 5161"/>
            </a:avLst>
          </a:prstGeom>
          <a:solidFill>
            <a:schemeClr val="bg2"/>
          </a:solidFill>
          <a:ln w="9525">
            <a:solidFill>
              <a:schemeClr val="accent5"/>
            </a:solidFill>
            <a:prstDash val="solid"/>
          </a:ln>
        </p:spPr>
      </p:sp>
      <p:sp>
        <p:nvSpPr>
          <p:cNvPr id="5" name="Text 3"/>
          <p:cNvSpPr txBox="1"/>
          <p:nvPr/>
        </p:nvSpPr>
        <p:spPr>
          <a:xfrm>
            <a:off x="576072" y="1463040"/>
            <a:ext cx="1591056" cy="256032"/>
          </a:xfrm>
          <a:prstGeom prst="rect">
            <a:avLst/>
          </a:prstGeom>
          <a:noFill/>
          <a:ln/>
        </p:spPr>
        <p:txBody>
          <a:bodyPr wrap="square" lIns="0" tIns="0" rIns="0" bIns="0" rtlCol="0" anchor="ctr"/>
          <a:lstStyle/>
          <a:p>
            <a:pPr indent="0" marL="0">
              <a:buNone/>
            </a:pPr>
            <a:r>
              <a:rPr lang="en-US" sz="1100" b="1" dirty="0">
                <a:solidFill>
                  <a:schemeClr val="accent1"/>
                </a:solidFill>
              </a:rPr>
              <a:t>Loss</a:t>
            </a:r>
            <a:endParaRPr lang="en-US" sz="1100" dirty="0"/>
          </a:p>
        </p:txBody>
      </p:sp>
      <p:sp>
        <p:nvSpPr>
          <p:cNvPr id="6" name="Text 4"/>
          <p:cNvSpPr txBox="1"/>
          <p:nvPr/>
        </p:nvSpPr>
        <p:spPr>
          <a:xfrm>
            <a:off x="576072" y="1737360"/>
            <a:ext cx="1591056" cy="457200"/>
          </a:xfrm>
          <a:prstGeom prst="rect">
            <a:avLst/>
          </a:prstGeom>
          <a:noFill/>
          <a:ln/>
        </p:spPr>
        <p:txBody>
          <a:bodyPr wrap="square" lIns="0" tIns="0" rIns="0" bIns="0" rtlCol="0" anchor="t"/>
          <a:lstStyle/>
          <a:p>
            <a:pPr indent="0" marL="0">
              <a:buNone/>
            </a:pPr>
            <a:r>
              <a:rPr lang="en-US" sz="1400" b="1" dirty="0">
                <a:solidFill>
                  <a:schemeClr val="tx1"/>
                </a:solidFill>
              </a:rPr>
              <a:t>Categorical cross-entropy</a:t>
            </a:r>
            <a:endParaRPr lang="en-US" sz="1400" dirty="0"/>
          </a:p>
        </p:txBody>
      </p:sp>
      <p:sp>
        <p:nvSpPr>
          <p:cNvPr id="7" name="Text 5"/>
          <p:cNvSpPr txBox="1"/>
          <p:nvPr/>
        </p:nvSpPr>
        <p:spPr>
          <a:xfrm>
            <a:off x="576072" y="2194560"/>
            <a:ext cx="1591056" cy="457200"/>
          </a:xfrm>
          <a:prstGeom prst="rect">
            <a:avLst/>
          </a:prstGeom>
          <a:noFill/>
          <a:ln/>
        </p:spPr>
        <p:txBody>
          <a:bodyPr wrap="square" lIns="0" tIns="0" rIns="0" bIns="0" rtlCol="0" anchor="t"/>
          <a:lstStyle/>
          <a:p>
            <a:pPr indent="0" marL="0">
              <a:buNone/>
            </a:pPr>
            <a:r>
              <a:rPr lang="en-US" sz="1100" dirty="0">
                <a:solidFill>
                  <a:schemeClr val="tx2"/>
                </a:solidFill>
              </a:rPr>
              <a:t>43 de clase, un singur răspuns corect</a:t>
            </a:r>
            <a:endParaRPr lang="en-US" sz="1100" dirty="0"/>
          </a:p>
        </p:txBody>
      </p:sp>
      <p:sp>
        <p:nvSpPr>
          <p:cNvPr id="8" name="card Optimizator"/>
          <p:cNvSpPr/>
          <p:nvPr/>
        </p:nvSpPr>
        <p:spPr>
          <a:xfrm>
            <a:off x="2514600" y="1325880"/>
            <a:ext cx="1920240" cy="1417320"/>
          </a:xfrm>
          <a:prstGeom prst="roundRect">
            <a:avLst>
              <a:gd name="adj" fmla="val 5161"/>
            </a:avLst>
          </a:prstGeom>
          <a:solidFill>
            <a:schemeClr val="bg2"/>
          </a:solidFill>
          <a:ln w="9525">
            <a:solidFill>
              <a:schemeClr val="accent5"/>
            </a:solidFill>
            <a:prstDash val="solid"/>
          </a:ln>
        </p:spPr>
      </p:sp>
      <p:sp>
        <p:nvSpPr>
          <p:cNvPr id="9" name="Text 7"/>
          <p:cNvSpPr txBox="1"/>
          <p:nvPr/>
        </p:nvSpPr>
        <p:spPr>
          <a:xfrm>
            <a:off x="2679192" y="1463040"/>
            <a:ext cx="1591056" cy="256032"/>
          </a:xfrm>
          <a:prstGeom prst="rect">
            <a:avLst/>
          </a:prstGeom>
          <a:noFill/>
          <a:ln/>
        </p:spPr>
        <p:txBody>
          <a:bodyPr wrap="square" lIns="0" tIns="0" rIns="0" bIns="0" rtlCol="0" anchor="ctr"/>
          <a:lstStyle/>
          <a:p>
            <a:pPr indent="0" marL="0">
              <a:buNone/>
            </a:pPr>
            <a:r>
              <a:rPr lang="en-US" sz="1100" b="1" dirty="0">
                <a:solidFill>
                  <a:schemeClr val="accent1"/>
                </a:solidFill>
              </a:rPr>
              <a:t>Optimizator</a:t>
            </a:r>
            <a:endParaRPr lang="en-US" sz="1100" dirty="0"/>
          </a:p>
        </p:txBody>
      </p:sp>
      <p:sp>
        <p:nvSpPr>
          <p:cNvPr id="10" name="Text 8"/>
          <p:cNvSpPr txBox="1"/>
          <p:nvPr/>
        </p:nvSpPr>
        <p:spPr>
          <a:xfrm>
            <a:off x="2679192" y="1737360"/>
            <a:ext cx="1591056" cy="457200"/>
          </a:xfrm>
          <a:prstGeom prst="rect">
            <a:avLst/>
          </a:prstGeom>
          <a:noFill/>
          <a:ln/>
        </p:spPr>
        <p:txBody>
          <a:bodyPr wrap="square" lIns="0" tIns="0" rIns="0" bIns="0" rtlCol="0" anchor="t"/>
          <a:lstStyle/>
          <a:p>
            <a:pPr indent="0" marL="0">
              <a:buNone/>
            </a:pPr>
            <a:r>
              <a:rPr lang="en-US" sz="1400" b="1" dirty="0">
                <a:solidFill>
                  <a:schemeClr val="tx1"/>
                </a:solidFill>
              </a:rPr>
              <a:t>Adam, lr 0,001</a:t>
            </a:r>
            <a:endParaRPr lang="en-US" sz="1400" dirty="0"/>
          </a:p>
        </p:txBody>
      </p:sp>
      <p:sp>
        <p:nvSpPr>
          <p:cNvPr id="11" name="Text 9"/>
          <p:cNvSpPr txBox="1"/>
          <p:nvPr/>
        </p:nvSpPr>
        <p:spPr>
          <a:xfrm>
            <a:off x="2679192" y="2194560"/>
            <a:ext cx="1591056" cy="457200"/>
          </a:xfrm>
          <a:prstGeom prst="rect">
            <a:avLst/>
          </a:prstGeom>
          <a:noFill/>
          <a:ln/>
        </p:spPr>
        <p:txBody>
          <a:bodyPr wrap="square" lIns="0" tIns="0" rIns="0" bIns="0" rtlCol="0" anchor="t"/>
          <a:lstStyle/>
          <a:p>
            <a:pPr indent="0" marL="0">
              <a:buNone/>
            </a:pPr>
            <a:r>
              <a:rPr lang="en-US" sz="1100" dirty="0">
                <a:solidFill>
                  <a:schemeClr val="tx2"/>
                </a:solidFill>
              </a:rPr>
              <a:t>standard și robust</a:t>
            </a:r>
            <a:endParaRPr lang="en-US" sz="1100" dirty="0"/>
          </a:p>
        </p:txBody>
      </p:sp>
      <p:sp>
        <p:nvSpPr>
          <p:cNvPr id="12" name="card Batch"/>
          <p:cNvSpPr/>
          <p:nvPr/>
        </p:nvSpPr>
        <p:spPr>
          <a:xfrm>
            <a:off x="4617720" y="1325880"/>
            <a:ext cx="1920240" cy="1417320"/>
          </a:xfrm>
          <a:prstGeom prst="roundRect">
            <a:avLst>
              <a:gd name="adj" fmla="val 5161"/>
            </a:avLst>
          </a:prstGeom>
          <a:solidFill>
            <a:schemeClr val="bg2"/>
          </a:solidFill>
          <a:ln w="9525">
            <a:solidFill>
              <a:schemeClr val="accent5"/>
            </a:solidFill>
            <a:prstDash val="solid"/>
          </a:ln>
        </p:spPr>
      </p:sp>
      <p:sp>
        <p:nvSpPr>
          <p:cNvPr id="13" name="Text 11"/>
          <p:cNvSpPr txBox="1"/>
          <p:nvPr/>
        </p:nvSpPr>
        <p:spPr>
          <a:xfrm>
            <a:off x="4782312" y="1463040"/>
            <a:ext cx="1591056" cy="256032"/>
          </a:xfrm>
          <a:prstGeom prst="rect">
            <a:avLst/>
          </a:prstGeom>
          <a:noFill/>
          <a:ln/>
        </p:spPr>
        <p:txBody>
          <a:bodyPr wrap="square" lIns="0" tIns="0" rIns="0" bIns="0" rtlCol="0" anchor="ctr"/>
          <a:lstStyle/>
          <a:p>
            <a:pPr indent="0" marL="0">
              <a:buNone/>
            </a:pPr>
            <a:r>
              <a:rPr lang="en-US" sz="1100" b="1" dirty="0">
                <a:solidFill>
                  <a:schemeClr val="accent1"/>
                </a:solidFill>
              </a:rPr>
              <a:t>Batch</a:t>
            </a:r>
            <a:endParaRPr lang="en-US" sz="1100" dirty="0"/>
          </a:p>
        </p:txBody>
      </p:sp>
      <p:sp>
        <p:nvSpPr>
          <p:cNvPr id="14" name="Text 12"/>
          <p:cNvSpPr txBox="1"/>
          <p:nvPr/>
        </p:nvSpPr>
        <p:spPr>
          <a:xfrm>
            <a:off x="4782312" y="1737360"/>
            <a:ext cx="1591056" cy="457200"/>
          </a:xfrm>
          <a:prstGeom prst="rect">
            <a:avLst/>
          </a:prstGeom>
          <a:noFill/>
          <a:ln/>
        </p:spPr>
        <p:txBody>
          <a:bodyPr wrap="square" lIns="0" tIns="0" rIns="0" bIns="0" rtlCol="0" anchor="t"/>
          <a:lstStyle/>
          <a:p>
            <a:pPr indent="0" marL="0">
              <a:buNone/>
            </a:pPr>
            <a:r>
              <a:rPr lang="en-US" sz="1400" b="1" dirty="0">
                <a:solidFill>
                  <a:schemeClr val="tx1"/>
                </a:solidFill>
              </a:rPr>
              <a:t>64 de imagini</a:t>
            </a:r>
            <a:endParaRPr lang="en-US" sz="1400" dirty="0"/>
          </a:p>
        </p:txBody>
      </p:sp>
      <p:sp>
        <p:nvSpPr>
          <p:cNvPr id="15" name="Text 13"/>
          <p:cNvSpPr txBox="1"/>
          <p:nvPr/>
        </p:nvSpPr>
        <p:spPr>
          <a:xfrm>
            <a:off x="4782312" y="2194560"/>
            <a:ext cx="1591056" cy="457200"/>
          </a:xfrm>
          <a:prstGeom prst="rect">
            <a:avLst/>
          </a:prstGeom>
          <a:noFill/>
          <a:ln/>
        </p:spPr>
        <p:txBody>
          <a:bodyPr wrap="square" lIns="0" tIns="0" rIns="0" bIns="0" rtlCol="0" anchor="t"/>
          <a:lstStyle/>
          <a:p>
            <a:pPr indent="0" marL="0">
              <a:buNone/>
            </a:pPr>
            <a:r>
              <a:rPr lang="en-US" sz="1100" dirty="0">
                <a:solidFill>
                  <a:schemeClr val="tx2"/>
                </a:solidFill>
              </a:rPr>
              <a:t>compromis viteză / stabilitate</a:t>
            </a:r>
            <a:endParaRPr lang="en-US" sz="1100" dirty="0"/>
          </a:p>
        </p:txBody>
      </p:sp>
      <p:sp>
        <p:nvSpPr>
          <p:cNvPr id="16" name="card Epoci"/>
          <p:cNvSpPr/>
          <p:nvPr/>
        </p:nvSpPr>
        <p:spPr>
          <a:xfrm>
            <a:off x="6720840" y="1325880"/>
            <a:ext cx="1920240" cy="1417320"/>
          </a:xfrm>
          <a:prstGeom prst="roundRect">
            <a:avLst>
              <a:gd name="adj" fmla="val 5161"/>
            </a:avLst>
          </a:prstGeom>
          <a:solidFill>
            <a:schemeClr val="bg2"/>
          </a:solidFill>
          <a:ln w="9525">
            <a:solidFill>
              <a:schemeClr val="accent5"/>
            </a:solidFill>
            <a:prstDash val="solid"/>
          </a:ln>
        </p:spPr>
      </p:sp>
      <p:sp>
        <p:nvSpPr>
          <p:cNvPr id="17" name="Text 15"/>
          <p:cNvSpPr txBox="1"/>
          <p:nvPr/>
        </p:nvSpPr>
        <p:spPr>
          <a:xfrm>
            <a:off x="6885432" y="1463040"/>
            <a:ext cx="1591056" cy="256032"/>
          </a:xfrm>
          <a:prstGeom prst="rect">
            <a:avLst/>
          </a:prstGeom>
          <a:noFill/>
          <a:ln/>
        </p:spPr>
        <p:txBody>
          <a:bodyPr wrap="square" lIns="0" tIns="0" rIns="0" bIns="0" rtlCol="0" anchor="ctr"/>
          <a:lstStyle/>
          <a:p>
            <a:pPr indent="0" marL="0">
              <a:buNone/>
            </a:pPr>
            <a:r>
              <a:rPr lang="en-US" sz="1100" b="1" dirty="0">
                <a:solidFill>
                  <a:schemeClr val="accent1"/>
                </a:solidFill>
              </a:rPr>
              <a:t>Epoci</a:t>
            </a:r>
            <a:endParaRPr lang="en-US" sz="1100" dirty="0"/>
          </a:p>
        </p:txBody>
      </p:sp>
      <p:sp>
        <p:nvSpPr>
          <p:cNvPr id="18" name="Text 16"/>
          <p:cNvSpPr txBox="1"/>
          <p:nvPr/>
        </p:nvSpPr>
        <p:spPr>
          <a:xfrm>
            <a:off x="6885432" y="1737360"/>
            <a:ext cx="1591056" cy="457200"/>
          </a:xfrm>
          <a:prstGeom prst="rect">
            <a:avLst/>
          </a:prstGeom>
          <a:noFill/>
          <a:ln/>
        </p:spPr>
        <p:txBody>
          <a:bodyPr wrap="square" lIns="0" tIns="0" rIns="0" bIns="0" rtlCol="0" anchor="t"/>
          <a:lstStyle/>
          <a:p>
            <a:pPr indent="0" marL="0">
              <a:buNone/>
            </a:pPr>
            <a:r>
              <a:rPr lang="en-US" sz="1400" b="1" dirty="0">
                <a:solidFill>
                  <a:schemeClr val="tx1"/>
                </a:solidFill>
              </a:rPr>
              <a:t>maxim 30</a:t>
            </a:r>
            <a:endParaRPr lang="en-US" sz="1400" dirty="0"/>
          </a:p>
        </p:txBody>
      </p:sp>
      <p:sp>
        <p:nvSpPr>
          <p:cNvPr id="19" name="Text 17"/>
          <p:cNvSpPr txBox="1"/>
          <p:nvPr/>
        </p:nvSpPr>
        <p:spPr>
          <a:xfrm>
            <a:off x="6885432" y="2194560"/>
            <a:ext cx="1591056" cy="457200"/>
          </a:xfrm>
          <a:prstGeom prst="rect">
            <a:avLst/>
          </a:prstGeom>
          <a:noFill/>
          <a:ln/>
        </p:spPr>
        <p:txBody>
          <a:bodyPr wrap="square" lIns="0" tIns="0" rIns="0" bIns="0" rtlCol="0" anchor="t"/>
          <a:lstStyle/>
          <a:p>
            <a:pPr indent="0" marL="0">
              <a:buNone/>
            </a:pPr>
            <a:r>
              <a:rPr lang="en-US" sz="1100" dirty="0">
                <a:solidFill>
                  <a:schemeClr val="tx2"/>
                </a:solidFill>
              </a:rPr>
              <a:t>curbele se aplatizează după ~15</a:t>
            </a:r>
            <a:endParaRPr lang="en-US" sz="1100" dirty="0"/>
          </a:p>
        </p:txBody>
      </p:sp>
      <p:sp>
        <p:nvSpPr>
          <p:cNvPr id="20" name="card EarlyStopping"/>
          <p:cNvSpPr/>
          <p:nvPr/>
        </p:nvSpPr>
        <p:spPr>
          <a:xfrm>
            <a:off x="411480" y="2926080"/>
            <a:ext cx="1920240" cy="1417320"/>
          </a:xfrm>
          <a:prstGeom prst="roundRect">
            <a:avLst>
              <a:gd name="adj" fmla="val 5161"/>
            </a:avLst>
          </a:prstGeom>
          <a:solidFill>
            <a:schemeClr val="bg2"/>
          </a:solidFill>
          <a:ln w="9525">
            <a:solidFill>
              <a:schemeClr val="accent5"/>
            </a:solidFill>
            <a:prstDash val="solid"/>
          </a:ln>
        </p:spPr>
      </p:sp>
      <p:sp>
        <p:nvSpPr>
          <p:cNvPr id="21" name="Text 19"/>
          <p:cNvSpPr txBox="1"/>
          <p:nvPr/>
        </p:nvSpPr>
        <p:spPr>
          <a:xfrm>
            <a:off x="576072" y="3063240"/>
            <a:ext cx="1591056" cy="256032"/>
          </a:xfrm>
          <a:prstGeom prst="rect">
            <a:avLst/>
          </a:prstGeom>
          <a:noFill/>
          <a:ln/>
        </p:spPr>
        <p:txBody>
          <a:bodyPr wrap="square" lIns="0" tIns="0" rIns="0" bIns="0" rtlCol="0" anchor="ctr"/>
          <a:lstStyle/>
          <a:p>
            <a:pPr indent="0" marL="0">
              <a:buNone/>
            </a:pPr>
            <a:r>
              <a:rPr lang="en-US" sz="1100" b="1" dirty="0">
                <a:solidFill>
                  <a:schemeClr val="accent1"/>
                </a:solidFill>
              </a:rPr>
              <a:t>EarlyStopping</a:t>
            </a:r>
            <a:endParaRPr lang="en-US" sz="1100" dirty="0"/>
          </a:p>
        </p:txBody>
      </p:sp>
      <p:sp>
        <p:nvSpPr>
          <p:cNvPr id="22" name="Text 20"/>
          <p:cNvSpPr txBox="1"/>
          <p:nvPr/>
        </p:nvSpPr>
        <p:spPr>
          <a:xfrm>
            <a:off x="576072" y="3337560"/>
            <a:ext cx="1591056" cy="457200"/>
          </a:xfrm>
          <a:prstGeom prst="rect">
            <a:avLst/>
          </a:prstGeom>
          <a:noFill/>
          <a:ln/>
        </p:spPr>
        <p:txBody>
          <a:bodyPr wrap="square" lIns="0" tIns="0" rIns="0" bIns="0" rtlCol="0" anchor="t"/>
          <a:lstStyle/>
          <a:p>
            <a:pPr indent="0" marL="0">
              <a:buNone/>
            </a:pPr>
            <a:r>
              <a:rPr lang="en-US" sz="1400" b="1" dirty="0">
                <a:solidFill>
                  <a:schemeClr val="tx1"/>
                </a:solidFill>
              </a:rPr>
              <a:t>răbdare 5 epoci</a:t>
            </a:r>
            <a:endParaRPr lang="en-US" sz="1400" dirty="0"/>
          </a:p>
        </p:txBody>
      </p:sp>
      <p:sp>
        <p:nvSpPr>
          <p:cNvPr id="23" name="Text 21"/>
          <p:cNvSpPr txBox="1"/>
          <p:nvPr/>
        </p:nvSpPr>
        <p:spPr>
          <a:xfrm>
            <a:off x="576072" y="3794760"/>
            <a:ext cx="1591056" cy="457200"/>
          </a:xfrm>
          <a:prstGeom prst="rect">
            <a:avLst/>
          </a:prstGeom>
          <a:noFill/>
          <a:ln/>
        </p:spPr>
        <p:txBody>
          <a:bodyPr wrap="square" lIns="0" tIns="0" rIns="0" bIns="0" rtlCol="0" anchor="t"/>
          <a:lstStyle/>
          <a:p>
            <a:pPr indent="0" marL="0">
              <a:buNone/>
            </a:pPr>
            <a:r>
              <a:rPr lang="en-US" sz="1100" dirty="0">
                <a:solidFill>
                  <a:schemeClr val="tx2"/>
                </a:solidFill>
              </a:rPr>
              <a:t>se oprește când validarea nu mai crește</a:t>
            </a:r>
            <a:endParaRPr lang="en-US" sz="1100" dirty="0"/>
          </a:p>
        </p:txBody>
      </p:sp>
      <p:sp>
        <p:nvSpPr>
          <p:cNvPr id="24" name="card ReduceLROnPlateau"/>
          <p:cNvSpPr/>
          <p:nvPr/>
        </p:nvSpPr>
        <p:spPr>
          <a:xfrm>
            <a:off x="2514600" y="2926080"/>
            <a:ext cx="1920240" cy="1417320"/>
          </a:xfrm>
          <a:prstGeom prst="roundRect">
            <a:avLst>
              <a:gd name="adj" fmla="val 5161"/>
            </a:avLst>
          </a:prstGeom>
          <a:solidFill>
            <a:schemeClr val="bg2"/>
          </a:solidFill>
          <a:ln w="9525">
            <a:solidFill>
              <a:schemeClr val="accent5"/>
            </a:solidFill>
            <a:prstDash val="solid"/>
          </a:ln>
        </p:spPr>
      </p:sp>
      <p:sp>
        <p:nvSpPr>
          <p:cNvPr id="25" name="Text 23"/>
          <p:cNvSpPr txBox="1"/>
          <p:nvPr/>
        </p:nvSpPr>
        <p:spPr>
          <a:xfrm>
            <a:off x="2679192" y="3063240"/>
            <a:ext cx="1591056" cy="256032"/>
          </a:xfrm>
          <a:prstGeom prst="rect">
            <a:avLst/>
          </a:prstGeom>
          <a:noFill/>
          <a:ln/>
        </p:spPr>
        <p:txBody>
          <a:bodyPr wrap="square" lIns="0" tIns="0" rIns="0" bIns="0" rtlCol="0" anchor="ctr"/>
          <a:lstStyle/>
          <a:p>
            <a:pPr indent="0" marL="0">
              <a:buNone/>
            </a:pPr>
            <a:r>
              <a:rPr lang="en-US" sz="1100" b="1" dirty="0">
                <a:solidFill>
                  <a:schemeClr val="accent1"/>
                </a:solidFill>
              </a:rPr>
              <a:t>ReduceLROnPlateau</a:t>
            </a:r>
            <a:endParaRPr lang="en-US" sz="1100" dirty="0"/>
          </a:p>
        </p:txBody>
      </p:sp>
      <p:sp>
        <p:nvSpPr>
          <p:cNvPr id="26" name="Text 24"/>
          <p:cNvSpPr txBox="1"/>
          <p:nvPr/>
        </p:nvSpPr>
        <p:spPr>
          <a:xfrm>
            <a:off x="2679192" y="3337560"/>
            <a:ext cx="1591056" cy="457200"/>
          </a:xfrm>
          <a:prstGeom prst="rect">
            <a:avLst/>
          </a:prstGeom>
          <a:noFill/>
          <a:ln/>
        </p:spPr>
        <p:txBody>
          <a:bodyPr wrap="square" lIns="0" tIns="0" rIns="0" bIns="0" rtlCol="0" anchor="t"/>
          <a:lstStyle/>
          <a:p>
            <a:pPr indent="0" marL="0">
              <a:buNone/>
            </a:pPr>
            <a:r>
              <a:rPr lang="en-US" sz="1400" b="1" dirty="0">
                <a:solidFill>
                  <a:schemeClr val="tx1"/>
                </a:solidFill>
              </a:rPr>
              <a:t>lr ÷ 2 la stagnare</a:t>
            </a:r>
            <a:endParaRPr lang="en-US" sz="1400" dirty="0"/>
          </a:p>
        </p:txBody>
      </p:sp>
      <p:sp>
        <p:nvSpPr>
          <p:cNvPr id="27" name="Text 25"/>
          <p:cNvSpPr txBox="1"/>
          <p:nvPr/>
        </p:nvSpPr>
        <p:spPr>
          <a:xfrm>
            <a:off x="2679192" y="3794760"/>
            <a:ext cx="1591056" cy="457200"/>
          </a:xfrm>
          <a:prstGeom prst="rect">
            <a:avLst/>
          </a:prstGeom>
          <a:noFill/>
          <a:ln/>
        </p:spPr>
        <p:txBody>
          <a:bodyPr wrap="square" lIns="0" tIns="0" rIns="0" bIns="0" rtlCol="0" anchor="t"/>
          <a:lstStyle/>
          <a:p>
            <a:pPr indent="0" marL="0">
              <a:buNone/>
            </a:pPr>
            <a:r>
              <a:rPr lang="en-US" sz="1100" dirty="0">
                <a:solidFill>
                  <a:schemeClr val="tx2"/>
                </a:solidFill>
              </a:rPr>
              <a:t>pași mai fini spre final</a:t>
            </a:r>
            <a:endParaRPr lang="en-US" sz="1100" dirty="0"/>
          </a:p>
        </p:txBody>
      </p:sp>
      <p:sp>
        <p:nvSpPr>
          <p:cNvPr id="28" name="card Seed"/>
          <p:cNvSpPr/>
          <p:nvPr/>
        </p:nvSpPr>
        <p:spPr>
          <a:xfrm>
            <a:off x="4617720" y="2926080"/>
            <a:ext cx="1920240" cy="1417320"/>
          </a:xfrm>
          <a:prstGeom prst="roundRect">
            <a:avLst>
              <a:gd name="adj" fmla="val 5161"/>
            </a:avLst>
          </a:prstGeom>
          <a:solidFill>
            <a:schemeClr val="bg2"/>
          </a:solidFill>
          <a:ln w="9525">
            <a:solidFill>
              <a:schemeClr val="accent5"/>
            </a:solidFill>
            <a:prstDash val="solid"/>
          </a:ln>
        </p:spPr>
      </p:sp>
      <p:sp>
        <p:nvSpPr>
          <p:cNvPr id="29" name="Text 27"/>
          <p:cNvSpPr txBox="1"/>
          <p:nvPr/>
        </p:nvSpPr>
        <p:spPr>
          <a:xfrm>
            <a:off x="4782312" y="3063240"/>
            <a:ext cx="1591056" cy="256032"/>
          </a:xfrm>
          <a:prstGeom prst="rect">
            <a:avLst/>
          </a:prstGeom>
          <a:noFill/>
          <a:ln/>
        </p:spPr>
        <p:txBody>
          <a:bodyPr wrap="square" lIns="0" tIns="0" rIns="0" bIns="0" rtlCol="0" anchor="ctr"/>
          <a:lstStyle/>
          <a:p>
            <a:pPr indent="0" marL="0">
              <a:buNone/>
            </a:pPr>
            <a:r>
              <a:rPr lang="en-US" sz="1100" b="1" dirty="0">
                <a:solidFill>
                  <a:schemeClr val="accent1"/>
                </a:solidFill>
              </a:rPr>
              <a:t>Seed</a:t>
            </a:r>
            <a:endParaRPr lang="en-US" sz="1100" dirty="0"/>
          </a:p>
        </p:txBody>
      </p:sp>
      <p:sp>
        <p:nvSpPr>
          <p:cNvPr id="30" name="Text 28"/>
          <p:cNvSpPr txBox="1"/>
          <p:nvPr/>
        </p:nvSpPr>
        <p:spPr>
          <a:xfrm>
            <a:off x="4782312" y="3337560"/>
            <a:ext cx="1591056" cy="457200"/>
          </a:xfrm>
          <a:prstGeom prst="rect">
            <a:avLst/>
          </a:prstGeom>
          <a:noFill/>
          <a:ln/>
        </p:spPr>
        <p:txBody>
          <a:bodyPr wrap="square" lIns="0" tIns="0" rIns="0" bIns="0" rtlCol="0" anchor="t"/>
          <a:lstStyle/>
          <a:p>
            <a:pPr indent="0" marL="0">
              <a:buNone/>
            </a:pPr>
            <a:r>
              <a:rPr lang="en-US" sz="1400" b="1" dirty="0">
                <a:solidFill>
                  <a:schemeClr val="tx1"/>
                </a:solidFill>
              </a:rPr>
              <a:t>42</a:t>
            </a:r>
            <a:endParaRPr lang="en-US" sz="1400" dirty="0"/>
          </a:p>
        </p:txBody>
      </p:sp>
      <p:sp>
        <p:nvSpPr>
          <p:cNvPr id="31" name="Text 29"/>
          <p:cNvSpPr txBox="1"/>
          <p:nvPr/>
        </p:nvSpPr>
        <p:spPr>
          <a:xfrm>
            <a:off x="4782312" y="3794760"/>
            <a:ext cx="1591056" cy="457200"/>
          </a:xfrm>
          <a:prstGeom prst="rect">
            <a:avLst/>
          </a:prstGeom>
          <a:noFill/>
          <a:ln/>
        </p:spPr>
        <p:txBody>
          <a:bodyPr wrap="square" lIns="0" tIns="0" rIns="0" bIns="0" rtlCol="0" anchor="t"/>
          <a:lstStyle/>
          <a:p>
            <a:pPr indent="0" marL="0">
              <a:buNone/>
            </a:pPr>
            <a:r>
              <a:rPr lang="en-US" sz="1100" dirty="0">
                <a:solidFill>
                  <a:schemeClr val="tx2"/>
                </a:solidFill>
              </a:rPr>
              <a:t>rezultate reproductibile</a:t>
            </a:r>
            <a:endParaRPr lang="en-US" sz="1100" dirty="0"/>
          </a:p>
        </p:txBody>
      </p:sp>
      <p:sp>
        <p:nvSpPr>
          <p:cNvPr id="32" name="card Ponderi salvate"/>
          <p:cNvSpPr/>
          <p:nvPr/>
        </p:nvSpPr>
        <p:spPr>
          <a:xfrm>
            <a:off x="6720840" y="2926080"/>
            <a:ext cx="1920240" cy="1417320"/>
          </a:xfrm>
          <a:prstGeom prst="roundRect">
            <a:avLst>
              <a:gd name="adj" fmla="val 5161"/>
            </a:avLst>
          </a:prstGeom>
          <a:solidFill>
            <a:schemeClr val="bg2"/>
          </a:solidFill>
          <a:ln w="9525">
            <a:solidFill>
              <a:schemeClr val="accent5"/>
            </a:solidFill>
            <a:prstDash val="solid"/>
          </a:ln>
        </p:spPr>
      </p:sp>
      <p:sp>
        <p:nvSpPr>
          <p:cNvPr id="33" name="Text 31"/>
          <p:cNvSpPr txBox="1"/>
          <p:nvPr/>
        </p:nvSpPr>
        <p:spPr>
          <a:xfrm>
            <a:off x="6885432" y="3063240"/>
            <a:ext cx="1591056" cy="256032"/>
          </a:xfrm>
          <a:prstGeom prst="rect">
            <a:avLst/>
          </a:prstGeom>
          <a:noFill/>
          <a:ln/>
        </p:spPr>
        <p:txBody>
          <a:bodyPr wrap="square" lIns="0" tIns="0" rIns="0" bIns="0" rtlCol="0" anchor="ctr"/>
          <a:lstStyle/>
          <a:p>
            <a:pPr indent="0" marL="0">
              <a:buNone/>
            </a:pPr>
            <a:r>
              <a:rPr lang="en-US" sz="1100" b="1" dirty="0">
                <a:solidFill>
                  <a:schemeClr val="accent1"/>
                </a:solidFill>
              </a:rPr>
              <a:t>Ponderi salvate</a:t>
            </a:r>
            <a:endParaRPr lang="en-US" sz="1100" dirty="0"/>
          </a:p>
        </p:txBody>
      </p:sp>
      <p:sp>
        <p:nvSpPr>
          <p:cNvPr id="34" name="Text 32"/>
          <p:cNvSpPr txBox="1"/>
          <p:nvPr/>
        </p:nvSpPr>
        <p:spPr>
          <a:xfrm>
            <a:off x="6885432" y="3337560"/>
            <a:ext cx="1591056" cy="457200"/>
          </a:xfrm>
          <a:prstGeom prst="rect">
            <a:avLst/>
          </a:prstGeom>
          <a:noFill/>
          <a:ln/>
        </p:spPr>
        <p:txBody>
          <a:bodyPr wrap="square" lIns="0" tIns="0" rIns="0" bIns="0" rtlCol="0" anchor="t"/>
          <a:lstStyle/>
          <a:p>
            <a:pPr indent="0" marL="0">
              <a:buNone/>
            </a:pPr>
            <a:r>
              <a:rPr lang="en-US" sz="1400" b="1" dirty="0">
                <a:solidFill>
                  <a:schemeClr val="tx1"/>
                </a:solidFill>
              </a:rPr>
              <a:t>models/cnn_*.keras</a:t>
            </a:r>
            <a:endParaRPr lang="en-US" sz="1400" dirty="0"/>
          </a:p>
        </p:txBody>
      </p:sp>
      <p:sp>
        <p:nvSpPr>
          <p:cNvPr id="35" name="Text 33"/>
          <p:cNvSpPr txBox="1"/>
          <p:nvPr/>
        </p:nvSpPr>
        <p:spPr>
          <a:xfrm>
            <a:off x="6885432" y="3794760"/>
            <a:ext cx="1591056" cy="457200"/>
          </a:xfrm>
          <a:prstGeom prst="rect">
            <a:avLst/>
          </a:prstGeom>
          <a:noFill/>
          <a:ln/>
        </p:spPr>
        <p:txBody>
          <a:bodyPr wrap="square" lIns="0" tIns="0" rIns="0" bIns="0" rtlCol="0" anchor="t"/>
          <a:lstStyle/>
          <a:p>
            <a:pPr indent="0" marL="0">
              <a:buNone/>
            </a:pPr>
            <a:r>
              <a:rPr lang="en-US" sz="1100" dirty="0">
                <a:solidFill>
                  <a:schemeClr val="tx2"/>
                </a:solidFill>
              </a:rPr>
              <a:t>fără reantrenare la fiecare rulare</a:t>
            </a:r>
            <a:endParaRPr lang="en-US" sz="1100" dirty="0"/>
          </a:p>
        </p:txBody>
      </p:sp>
      <p:sp>
        <p:nvSpPr>
          <p:cNvPr id="25" name="Slide Number Placeholder 0"/>
          <p:cNvSpPr>
            <a:spLocks noGrp="1"/>
          </p:cNvSpPr>
          <p:nvPr>
            <p:ph type="sldNum" sz="quarter" idx="4294967295"/>
          </p:nvPr>
        </p:nvSpPr>
        <p:spPr>
          <a:xfrm>
            <a:off x="8503920" y="4754880"/>
            <a:ext cx="36576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11480" y="256032"/>
            <a:ext cx="8321040" cy="502920"/>
          </a:xfrm>
          <a:prstGeom prst="rect">
            <a:avLst/>
          </a:prstGeom>
          <a:noFill/>
          <a:ln/>
        </p:spPr>
        <p:txBody>
          <a:bodyPr wrap="square" lIns="0" tIns="0" rIns="0" bIns="0" rtlCol="0" anchor="t"/>
          <a:lstStyle/>
          <a:p>
            <a:pPr algn="l" indent="0" marL="0">
              <a:buNone/>
            </a:pPr>
            <a:r>
              <a:rPr lang="en-US" sz="2600" b="1" dirty="0">
                <a:solidFill>
                  <a:schemeClr val="tx1"/>
                </a:solidFill>
              </a:rPr>
              <a:t>Curbele de antrenare: validarea urmărește antrenarea</a:t>
            </a:r>
            <a:endParaRPr lang="en-US" sz="2600" dirty="0"/>
          </a:p>
        </p:txBody>
      </p:sp>
      <p:sp>
        <p:nvSpPr>
          <p:cNvPr id="3" name="Text 0"/>
          <p:cNvSpPr/>
          <p:nvPr>
            <p:ph idx="101" type="body" hasCustomPrompt="1"/>
          </p:nvPr>
        </p:nvSpPr>
        <p:spPr>
          <a:xfrm>
            <a:off x="411480" y="786384"/>
            <a:ext cx="8321040" cy="320040"/>
          </a:xfrm>
          <a:prstGeom prst="rect">
            <a:avLst/>
          </a:prstGeom>
          <a:noFill/>
          <a:ln/>
        </p:spPr>
        <p:txBody>
          <a:bodyPr wrap="square" lIns="0" tIns="0" rIns="0" bIns="0" rtlCol="0" anchor="t"/>
          <a:lstStyle/>
          <a:p>
            <a:pPr algn="l" indent="0" marL="0">
              <a:buNone/>
            </a:pPr>
            <a:r>
              <a:rPr lang="en-US" sz="1400" dirty="0">
                <a:solidFill>
                  <a:schemeClr val="tx2"/>
                </a:solidFill>
              </a:rPr>
              <a:t>Modelul de bază, 30 de epoci; cea mai bună epocă: 25</a:t>
            </a:r>
            <a:endParaRPr lang="en-US" sz="1400" dirty="0"/>
          </a:p>
        </p:txBody>
      </p:sp>
      <p:pic>
        <p:nvPicPr>
          <p:cNvPr id="4" name="curbe" descr="Pierderea și acuratețea pe antrenare și validare">    </p:cNvPr>
          <p:cNvPicPr>
            <a:picLocks noChangeAspect="1"/>
          </p:cNvPicPr>
          <p:nvPr/>
        </p:nvPicPr>
        <p:blipFill>
          <a:blip r:embed="rId1"/>
          <a:stretch>
            <a:fillRect/>
          </a:stretch>
        </p:blipFill>
        <p:spPr>
          <a:xfrm>
            <a:off x="411480" y="1325880"/>
            <a:ext cx="8321040" cy="3099816"/>
          </a:xfrm>
          <a:prstGeom prst="rect">
            <a:avLst/>
          </a:prstGeom>
        </p:spPr>
      </p:pic>
      <p:sp>
        <p:nvSpPr>
          <p:cNvPr id="25" name="Slide Number Placeholder 0"/>
          <p:cNvSpPr>
            <a:spLocks noGrp="1"/>
          </p:cNvSpPr>
          <p:nvPr>
            <p:ph type="sldNum" sz="quarter" idx="4294967295"/>
          </p:nvPr>
        </p:nvSpPr>
        <p:spPr>
          <a:xfrm>
            <a:off x="8503920" y="4754880"/>
            <a:ext cx="36576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figura" descr="Overfitting: fără regularizare antrenarea ajunge la 100%, validarea rămâne cu 1 punct mai jos">    </p:cNvPr>
          <p:cNvPicPr>
            <a:picLocks noChangeAspect="1"/>
          </p:cNvPicPr>
          <p:nvPr/>
        </p:nvPicPr>
        <p:blipFill>
          <a:blip r:embed="rId1"/>
          <a:stretch>
            <a:fillRect/>
          </a:stretch>
        </p:blipFill>
        <p:spPr>
          <a:xfrm>
            <a:off x="0" y="0"/>
            <a:ext cx="9144000" cy="5143500"/>
          </a:xfrm>
          <a:prstGeom prst="rect">
            <a:avLst/>
          </a:prstGeom>
        </p:spPr>
      </p:pic>
      <p:sp>
        <p:nvSpPr>
          <p:cNvPr id="25" name="Slide Number Placeholder 0"/>
          <p:cNvSpPr>
            <a:spLocks noGrp="1"/>
          </p:cNvSpPr>
          <p:nvPr>
            <p:ph type="sldNum" sz="quarter" idx="4294967295"/>
          </p:nvPr>
        </p:nvSpPr>
        <p:spPr>
          <a:xfrm>
            <a:off x="8503920" y="4754880"/>
            <a:ext cx="36576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figura" descr="Cele patru experimente comparate cu ținta de 95%">    </p:cNvPr>
          <p:cNvPicPr>
            <a:picLocks noChangeAspect="1"/>
          </p:cNvPicPr>
          <p:nvPr/>
        </p:nvPicPr>
        <p:blipFill>
          <a:blip r:embed="rId1"/>
          <a:stretch>
            <a:fillRect/>
          </a:stretch>
        </p:blipFill>
        <p:spPr>
          <a:xfrm>
            <a:off x="0" y="0"/>
            <a:ext cx="9144000" cy="5143500"/>
          </a:xfrm>
          <a:prstGeom prst="rect">
            <a:avLst/>
          </a:prstGeom>
        </p:spPr>
      </p:pic>
      <p:sp>
        <p:nvSpPr>
          <p:cNvPr id="25" name="Slide Number Placeholder 0"/>
          <p:cNvSpPr>
            <a:spLocks noGrp="1"/>
          </p:cNvSpPr>
          <p:nvPr>
            <p:ph type="sldNum" sz="quarter" idx="4294967295"/>
          </p:nvPr>
        </p:nvSpPr>
        <p:spPr>
          <a:xfrm>
            <a:off x="8503920" y="4754880"/>
            <a:ext cx="36576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figura" descr="Exemple de predicții cu primele 3 probabilități">    </p:cNvPr>
          <p:cNvPicPr>
            <a:picLocks noChangeAspect="1"/>
          </p:cNvPicPr>
          <p:nvPr/>
        </p:nvPicPr>
        <p:blipFill>
          <a:blip r:embed="rId1"/>
          <a:stretch>
            <a:fillRect/>
          </a:stretch>
        </p:blipFill>
        <p:spPr>
          <a:xfrm>
            <a:off x="0" y="0"/>
            <a:ext cx="9144000" cy="5143500"/>
          </a:xfrm>
          <a:prstGeom prst="rect">
            <a:avLst/>
          </a:prstGeom>
        </p:spPr>
      </p:pic>
      <p:sp>
        <p:nvSpPr>
          <p:cNvPr id="25" name="Slide Number Placeholder 0"/>
          <p:cNvSpPr>
            <a:spLocks noGrp="1"/>
          </p:cNvSpPr>
          <p:nvPr>
            <p:ph type="sldNum" sz="quarter" idx="4294967295"/>
          </p:nvPr>
        </p:nvSpPr>
        <p:spPr>
          <a:xfrm>
            <a:off x="8503920" y="4754880"/>
            <a:ext cx="36576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figura" descr="Perechile de semne confundate cel mai des">    </p:cNvPr>
          <p:cNvPicPr>
            <a:picLocks noChangeAspect="1"/>
          </p:cNvPicPr>
          <p:nvPr/>
        </p:nvPicPr>
        <p:blipFill>
          <a:blip r:embed="rId1"/>
          <a:stretch>
            <a:fillRect/>
          </a:stretch>
        </p:blipFill>
        <p:spPr>
          <a:xfrm>
            <a:off x="0" y="0"/>
            <a:ext cx="9144000" cy="5143500"/>
          </a:xfrm>
          <a:prstGeom prst="rect">
            <a:avLst/>
          </a:prstGeom>
        </p:spPr>
      </p:pic>
      <p:sp>
        <p:nvSpPr>
          <p:cNvPr id="25" name="Slide Number Placeholder 0"/>
          <p:cNvSpPr>
            <a:spLocks noGrp="1"/>
          </p:cNvSpPr>
          <p:nvPr>
            <p:ph type="sldNum" sz="quarter" idx="4294967295"/>
          </p:nvPr>
        </p:nvSpPr>
        <p:spPr>
          <a:xfrm>
            <a:off x="8503920" y="4754880"/>
            <a:ext cx="36576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411480" y="256032"/>
            <a:ext cx="8321040" cy="502920"/>
          </a:xfrm>
          <a:prstGeom prst="rect">
            <a:avLst/>
          </a:prstGeom>
          <a:noFill/>
          <a:ln/>
        </p:spPr>
        <p:txBody>
          <a:bodyPr wrap="square" lIns="0" tIns="0" rIns="0" bIns="0" rtlCol="0" anchor="t"/>
          <a:lstStyle/>
          <a:p>
            <a:pPr algn="l" indent="0" marL="0">
              <a:buNone/>
            </a:pPr>
            <a:r>
              <a:rPr lang="en-US" sz="2600" b="1" dirty="0">
                <a:solidFill>
                  <a:schemeClr val="tx1"/>
                </a:solidFill>
              </a:rPr>
              <a:t>ResNet50: transfer learning în două etape</a:t>
            </a:r>
            <a:endParaRPr lang="en-US" sz="2600" dirty="0"/>
          </a:p>
        </p:txBody>
      </p:sp>
      <p:sp>
        <p:nvSpPr>
          <p:cNvPr id="3" name="Text 0"/>
          <p:cNvSpPr/>
          <p:nvPr>
            <p:ph idx="101" type="body" hasCustomPrompt="1"/>
          </p:nvPr>
        </p:nvSpPr>
        <p:spPr>
          <a:xfrm>
            <a:off x="411480" y="786384"/>
            <a:ext cx="8321040" cy="320040"/>
          </a:xfrm>
          <a:prstGeom prst="rect">
            <a:avLst/>
          </a:prstGeom>
          <a:noFill/>
          <a:ln/>
        </p:spPr>
        <p:txBody>
          <a:bodyPr wrap="square" lIns="0" tIns="0" rIns="0" bIns="0" rtlCol="0" anchor="t"/>
          <a:lstStyle/>
          <a:p>
            <a:pPr algn="l" indent="0" marL="0">
              <a:buNone/>
            </a:pPr>
            <a:r>
              <a:rPr lang="en-US" sz="1400" dirty="0">
                <a:solidFill>
                  <a:schemeClr val="tx2"/>
                </a:solidFill>
              </a:rPr>
              <a:t>Pre-antrenat pe ImageNet (1,2 milioane de imagini), 23,7 milioane de parametri, imagini 96×96</a:t>
            </a:r>
            <a:endParaRPr lang="en-US" sz="1400" dirty="0"/>
          </a:p>
        </p:txBody>
      </p:sp>
      <p:sp>
        <p:nvSpPr>
          <p:cNvPr id="4" name="etapa 1"/>
          <p:cNvSpPr/>
          <p:nvPr/>
        </p:nvSpPr>
        <p:spPr>
          <a:xfrm>
            <a:off x="411480" y="1371600"/>
            <a:ext cx="4023360" cy="2057400"/>
          </a:xfrm>
          <a:prstGeom prst="roundRect">
            <a:avLst>
              <a:gd name="adj" fmla="val 3556"/>
            </a:avLst>
          </a:prstGeom>
          <a:solidFill>
            <a:schemeClr val="bg2"/>
          </a:solidFill>
          <a:ln w="9525">
            <a:solidFill>
              <a:schemeClr val="accent5"/>
            </a:solidFill>
            <a:prstDash val="solid"/>
          </a:ln>
        </p:spPr>
      </p:sp>
      <p:sp>
        <p:nvSpPr>
          <p:cNvPr id="5" name="badge 1"/>
          <p:cNvSpPr/>
          <p:nvPr/>
        </p:nvSpPr>
        <p:spPr>
          <a:xfrm>
            <a:off x="640080" y="1600200"/>
            <a:ext cx="384048" cy="384048"/>
          </a:xfrm>
          <a:prstGeom prst="ellipse">
            <a:avLst/>
          </a:prstGeom>
          <a:solidFill>
            <a:schemeClr val="accent2"/>
          </a:solidFill>
          <a:ln/>
        </p:spPr>
      </p:sp>
      <p:sp>
        <p:nvSpPr>
          <p:cNvPr id="6" name="Text 4"/>
          <p:cNvSpPr txBox="1"/>
          <p:nvPr/>
        </p:nvSpPr>
        <p:spPr>
          <a:xfrm>
            <a:off x="640080" y="1600200"/>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7" name="Text 5"/>
          <p:cNvSpPr txBox="1"/>
          <p:nvPr/>
        </p:nvSpPr>
        <p:spPr>
          <a:xfrm>
            <a:off x="1143000" y="1627632"/>
            <a:ext cx="3108960" cy="347472"/>
          </a:xfrm>
          <a:prstGeom prst="rect">
            <a:avLst/>
          </a:prstGeom>
          <a:noFill/>
          <a:ln/>
        </p:spPr>
        <p:txBody>
          <a:bodyPr wrap="square" lIns="0" tIns="0" rIns="0" bIns="0" rtlCol="0" anchor="ctr"/>
          <a:lstStyle/>
          <a:p>
            <a:pPr indent="0" marL="0">
              <a:buNone/>
            </a:pPr>
            <a:r>
              <a:rPr lang="en-US" sz="1600" b="1" dirty="0">
                <a:solidFill>
                  <a:schemeClr val="tx1"/>
                </a:solidFill>
              </a:rPr>
              <a:t>Etapa 1: doar capul nou</a:t>
            </a:r>
            <a:endParaRPr lang="en-US" sz="1600" dirty="0"/>
          </a:p>
        </p:txBody>
      </p:sp>
      <p:sp>
        <p:nvSpPr>
          <p:cNvPr id="8" name="Text 6"/>
          <p:cNvSpPr txBox="1"/>
          <p:nvPr/>
        </p:nvSpPr>
        <p:spPr>
          <a:xfrm>
            <a:off x="640080" y="2148840"/>
            <a:ext cx="3611880" cy="141732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chemeClr val="tx2"/>
                </a:solidFill>
              </a:rPr>
              <a:t>Baza ResNet50 înghețată</a:t>
            </a:r>
            <a:endParaRPr lang="en-US" sz="1300" dirty="0"/>
          </a:p>
          <a:p>
            <a:pPr marL="342900" indent="-342900">
              <a:spcAft>
                <a:spcPts val="600"/>
              </a:spcAft>
              <a:buSzPct val="100000"/>
              <a:buChar char="•"/>
            </a:pPr>
            <a:r>
              <a:rPr lang="en-US" sz="1300" dirty="0">
                <a:solidFill>
                  <a:schemeClr val="tx2"/>
                </a:solidFill>
              </a:rPr>
              <a:t>Se antrenează GlobalAveragePooling → Dropout 0,3 → Dense 43</a:t>
            </a:r>
            <a:endParaRPr lang="en-US" sz="1300" dirty="0"/>
          </a:p>
          <a:p>
            <a:pPr marL="342900" indent="-342900">
              <a:spcAft>
                <a:spcPts val="600"/>
              </a:spcAft>
              <a:buSzPct val="100000"/>
              <a:buChar char="•"/>
            </a:pPr>
            <a:r>
              <a:rPr lang="en-US" sz="1300" dirty="0">
                <a:solidFill>
                  <a:schemeClr val="tx2"/>
                </a:solidFill>
              </a:rPr>
              <a:t>5 epoci, Adam lr 0,001</a:t>
            </a:r>
            <a:endParaRPr lang="en-US" sz="1300" dirty="0"/>
          </a:p>
        </p:txBody>
      </p:sp>
      <p:sp>
        <p:nvSpPr>
          <p:cNvPr id="9" name="etapa 2"/>
          <p:cNvSpPr/>
          <p:nvPr/>
        </p:nvSpPr>
        <p:spPr>
          <a:xfrm>
            <a:off x="4617720" y="1371600"/>
            <a:ext cx="4023360" cy="2057400"/>
          </a:xfrm>
          <a:prstGeom prst="roundRect">
            <a:avLst>
              <a:gd name="adj" fmla="val 3556"/>
            </a:avLst>
          </a:prstGeom>
          <a:solidFill>
            <a:schemeClr val="bg2"/>
          </a:solidFill>
          <a:ln w="9525">
            <a:solidFill>
              <a:schemeClr val="accent5"/>
            </a:solidFill>
            <a:prstDash val="solid"/>
          </a:ln>
        </p:spPr>
      </p:sp>
      <p:sp>
        <p:nvSpPr>
          <p:cNvPr id="10" name="badge 2"/>
          <p:cNvSpPr/>
          <p:nvPr/>
        </p:nvSpPr>
        <p:spPr>
          <a:xfrm>
            <a:off x="4846320" y="1600200"/>
            <a:ext cx="384048" cy="384048"/>
          </a:xfrm>
          <a:prstGeom prst="ellipse">
            <a:avLst/>
          </a:prstGeom>
          <a:solidFill>
            <a:schemeClr val="accent3"/>
          </a:solidFill>
          <a:ln/>
        </p:spPr>
      </p:sp>
      <p:sp>
        <p:nvSpPr>
          <p:cNvPr id="11" name="Text 9"/>
          <p:cNvSpPr txBox="1"/>
          <p:nvPr/>
        </p:nvSpPr>
        <p:spPr>
          <a:xfrm>
            <a:off x="4846320" y="1600200"/>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2" name="Text 10"/>
          <p:cNvSpPr txBox="1"/>
          <p:nvPr/>
        </p:nvSpPr>
        <p:spPr>
          <a:xfrm>
            <a:off x="5349240" y="1627632"/>
            <a:ext cx="3108960" cy="347472"/>
          </a:xfrm>
          <a:prstGeom prst="rect">
            <a:avLst/>
          </a:prstGeom>
          <a:noFill/>
          <a:ln/>
        </p:spPr>
        <p:txBody>
          <a:bodyPr wrap="square" lIns="0" tIns="0" rIns="0" bIns="0" rtlCol="0" anchor="ctr"/>
          <a:lstStyle/>
          <a:p>
            <a:pPr indent="0" marL="0">
              <a:buNone/>
            </a:pPr>
            <a:r>
              <a:rPr lang="en-US" sz="1600" b="1" dirty="0">
                <a:solidFill>
                  <a:schemeClr val="tx1"/>
                </a:solidFill>
              </a:rPr>
              <a:t>Etapa 2: fine-tuning</a:t>
            </a:r>
            <a:endParaRPr lang="en-US" sz="1600" dirty="0"/>
          </a:p>
        </p:txBody>
      </p:sp>
      <p:sp>
        <p:nvSpPr>
          <p:cNvPr id="13" name="Text 11"/>
          <p:cNvSpPr txBox="1"/>
          <p:nvPr/>
        </p:nvSpPr>
        <p:spPr>
          <a:xfrm>
            <a:off x="4846320" y="2148840"/>
            <a:ext cx="3611880" cy="141732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chemeClr val="tx2"/>
                </a:solidFill>
              </a:rPr>
              <a:t>Se dezgheață blocurile conv5 (varianta 1) sau conv4 + conv5 (varianta 2)</a:t>
            </a:r>
            <a:endParaRPr lang="en-US" sz="1300" dirty="0"/>
          </a:p>
          <a:p>
            <a:pPr marL="342900" indent="-342900">
              <a:spcAft>
                <a:spcPts val="600"/>
              </a:spcAft>
              <a:buSzPct val="100000"/>
              <a:buChar char="•"/>
            </a:pPr>
            <a:r>
              <a:rPr lang="en-US" sz="1300" dirty="0">
                <a:solidFill>
                  <a:schemeClr val="tx2"/>
                </a:solidFill>
              </a:rPr>
              <a:t>BatchNorm rămâne înghețat</a:t>
            </a:r>
            <a:endParaRPr lang="en-US" sz="1300" dirty="0"/>
          </a:p>
          <a:p>
            <a:pPr marL="342900" indent="-342900">
              <a:spcAft>
                <a:spcPts val="600"/>
              </a:spcAft>
              <a:buSzPct val="100000"/>
              <a:buChar char="•"/>
            </a:pPr>
            <a:r>
              <a:rPr lang="en-US" sz="1300" dirty="0">
                <a:solidFill>
                  <a:schemeClr val="tx2"/>
                </a:solidFill>
              </a:rPr>
              <a:t>Rată de învățare de 10× mai mică: 0,0001</a:t>
            </a:r>
            <a:endParaRPr lang="en-US" sz="1300" dirty="0"/>
          </a:p>
        </p:txBody>
      </p:sp>
      <p:sp>
        <p:nvSpPr>
          <p:cNvPr id="14" name="Text 12"/>
          <p:cNvSpPr txBox="1"/>
          <p:nvPr/>
        </p:nvSpPr>
        <p:spPr>
          <a:xfrm>
            <a:off x="411480" y="3703320"/>
            <a:ext cx="8321040" cy="365760"/>
          </a:xfrm>
          <a:prstGeom prst="rect">
            <a:avLst/>
          </a:prstGeom>
          <a:noFill/>
          <a:ln/>
        </p:spPr>
        <p:txBody>
          <a:bodyPr wrap="square" lIns="0" tIns="0" rIns="0" bIns="0" rtlCol="0" anchor="ctr"/>
          <a:lstStyle/>
          <a:p>
            <a:pPr indent="0" marL="0">
              <a:buNone/>
            </a:pPr>
            <a:r>
              <a:rPr lang="en-US" sz="1400" dirty="0">
                <a:solidFill>
                  <a:schemeClr val="tx1"/>
                </a:solidFill>
              </a:rPr>
              <a:t>Aceleași condiții ca la CNN: același split, aceeași augmentare, ponderi pe clase, același set de test.</a:t>
            </a:r>
            <a:endParaRPr lang="en-US" sz="1400" dirty="0"/>
          </a:p>
        </p:txBody>
      </p:sp>
      <p:sp>
        <p:nvSpPr>
          <p:cNvPr id="25" name="Slide Number Placeholder 0"/>
          <p:cNvSpPr>
            <a:spLocks noGrp="1"/>
          </p:cNvSpPr>
          <p:nvPr>
            <p:ph type="sldNum" sz="quarter" idx="4294967295"/>
          </p:nvPr>
        </p:nvSpPr>
        <p:spPr>
          <a:xfrm>
            <a:off x="8503920" y="4754880"/>
            <a:ext cx="36576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pic>
        <p:nvPicPr>
          <p:cNvPr id="2" name="figura" descr="CNN propriu vs. ResNet50: eroare, timp de antrenare, mărime, inferență">    </p:cNvPr>
          <p:cNvPicPr>
            <a:picLocks noChangeAspect="1"/>
          </p:cNvPicPr>
          <p:nvPr/>
        </p:nvPicPr>
        <p:blipFill>
          <a:blip r:embed="rId1"/>
          <a:stretch>
            <a:fillRect/>
          </a:stretch>
        </p:blipFill>
        <p:spPr>
          <a:xfrm>
            <a:off x="0" y="0"/>
            <a:ext cx="9144000" cy="5143500"/>
          </a:xfrm>
          <a:prstGeom prst="rect">
            <a:avLst/>
          </a:prstGeom>
        </p:spPr>
      </p:pic>
      <p:sp>
        <p:nvSpPr>
          <p:cNvPr id="25" name="Slide Number Placeholder 0"/>
          <p:cNvSpPr>
            <a:spLocks noGrp="1"/>
          </p:cNvSpPr>
          <p:nvPr>
            <p:ph type="sldNum" sz="quarter" idx="4294967295"/>
          </p:nvPr>
        </p:nvSpPr>
        <p:spPr>
          <a:xfrm>
            <a:off x="8503920" y="4754880"/>
            <a:ext cx="36576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411480" y="256032"/>
            <a:ext cx="8321040" cy="502920"/>
          </a:xfrm>
          <a:prstGeom prst="rect">
            <a:avLst/>
          </a:prstGeom>
          <a:noFill/>
          <a:ln/>
        </p:spPr>
        <p:txBody>
          <a:bodyPr wrap="square" lIns="0" tIns="0" rIns="0" bIns="0" rtlCol="0" anchor="t"/>
          <a:lstStyle/>
          <a:p>
            <a:pPr algn="l" indent="0" marL="0">
              <a:buNone/>
            </a:pPr>
            <a:r>
              <a:rPr lang="en-US" sz="2600" b="1" dirty="0">
                <a:solidFill>
                  <a:schemeClr val="tx1"/>
                </a:solidFill>
              </a:rPr>
              <a:t>De ce câștigă rețeaua mică</a:t>
            </a:r>
            <a:endParaRPr lang="en-US" sz="2600" dirty="0"/>
          </a:p>
        </p:txBody>
      </p:sp>
      <p:sp>
        <p:nvSpPr>
          <p:cNvPr id="3" name="Text 0"/>
          <p:cNvSpPr/>
          <p:nvPr>
            <p:ph idx="101" type="body" hasCustomPrompt="1"/>
          </p:nvPr>
        </p:nvSpPr>
        <p:spPr>
          <a:xfrm>
            <a:off x="411480" y="786384"/>
            <a:ext cx="8321040" cy="320040"/>
          </a:xfrm>
          <a:prstGeom prst="rect">
            <a:avLst/>
          </a:prstGeom>
          <a:noFill/>
          <a:ln/>
        </p:spPr>
        <p:txBody>
          <a:bodyPr wrap="square" lIns="0" tIns="0" rIns="0" bIns="0" rtlCol="0" anchor="t"/>
          <a:lstStyle/>
          <a:p>
            <a:pPr algn="l" indent="0" marL="0">
              <a:buNone/>
            </a:pPr>
            <a:r>
              <a:rPr lang="en-US" sz="1400" dirty="0">
                <a:solidFill>
                  <a:schemeClr val="tx2"/>
                </a:solidFill>
              </a:rPr>
              <a:t>Rezultat valabil pentru acest set și acest buget de calcul (CPU, &lt; 1 oră)</a:t>
            </a:r>
            <a:endParaRPr lang="en-US" sz="1400" dirty="0"/>
          </a:p>
        </p:txBody>
      </p:sp>
      <p:sp>
        <p:nvSpPr>
          <p:cNvPr id="4" name="punct CNN propriu"/>
          <p:cNvSpPr/>
          <p:nvPr/>
        </p:nvSpPr>
        <p:spPr>
          <a:xfrm>
            <a:off x="411480" y="1371600"/>
            <a:ext cx="274320" cy="274320"/>
          </a:xfrm>
          <a:prstGeom prst="ellipse">
            <a:avLst/>
          </a:prstGeom>
          <a:solidFill>
            <a:schemeClr val="accent1"/>
          </a:solidFill>
          <a:ln/>
        </p:spPr>
      </p:sp>
      <p:sp>
        <p:nvSpPr>
          <p:cNvPr id="5" name="Text 3"/>
          <p:cNvSpPr txBox="1"/>
          <p:nvPr/>
        </p:nvSpPr>
        <p:spPr>
          <a:xfrm>
            <a:off x="822960" y="1325880"/>
            <a:ext cx="3474720" cy="365760"/>
          </a:xfrm>
          <a:prstGeom prst="rect">
            <a:avLst/>
          </a:prstGeom>
          <a:noFill/>
          <a:ln/>
        </p:spPr>
        <p:txBody>
          <a:bodyPr wrap="square" lIns="0" tIns="0" rIns="0" bIns="0" rtlCol="0" anchor="ctr"/>
          <a:lstStyle/>
          <a:p>
            <a:pPr indent="0" marL="0">
              <a:buNone/>
            </a:pPr>
            <a:r>
              <a:rPr lang="en-US" sz="1800" b="1" dirty="0">
                <a:solidFill>
                  <a:schemeClr val="tx1"/>
                </a:solidFill>
              </a:rPr>
              <a:t>CNN propriu</a:t>
            </a:r>
            <a:endParaRPr lang="en-US" sz="1800" dirty="0"/>
          </a:p>
        </p:txBody>
      </p:sp>
      <p:sp>
        <p:nvSpPr>
          <p:cNvPr id="6" name="Text 4"/>
          <p:cNvSpPr txBox="1"/>
          <p:nvPr/>
        </p:nvSpPr>
        <p:spPr>
          <a:xfrm>
            <a:off x="411480" y="1874520"/>
            <a:ext cx="3931920" cy="182880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2"/>
                </a:solidFill>
              </a:rPr>
              <a:t>Proiectat pentru imagini mici (48×48)</a:t>
            </a:r>
            <a:endParaRPr lang="en-US" sz="1400" dirty="0"/>
          </a:p>
          <a:p>
            <a:pPr marL="342900" indent="-342900">
              <a:spcAft>
                <a:spcPts val="800"/>
              </a:spcAft>
              <a:buSzPct val="100000"/>
              <a:buChar char="•"/>
            </a:pPr>
            <a:r>
              <a:rPr lang="en-US" sz="1400" dirty="0">
                <a:solidFill>
                  <a:schemeClr val="tx2"/>
                </a:solidFill>
              </a:rPr>
              <a:t>99,03% acuratețe, 5,1 MB</a:t>
            </a:r>
            <a:endParaRPr lang="en-US" sz="1400" dirty="0"/>
          </a:p>
          <a:p>
            <a:pPr marL="342900" indent="-342900">
              <a:spcAft>
                <a:spcPts val="800"/>
              </a:spcAft>
              <a:buSzPct val="100000"/>
              <a:buChar char="•"/>
            </a:pPr>
            <a:r>
              <a:rPr lang="en-US" sz="1400" dirty="0">
                <a:solidFill>
                  <a:schemeClr val="tx2"/>
                </a:solidFill>
              </a:rPr>
              <a:t>Antrenare în 15 minute pe CPU</a:t>
            </a:r>
            <a:endParaRPr lang="en-US" sz="1400" dirty="0"/>
          </a:p>
          <a:p>
            <a:pPr marL="342900" indent="-342900">
              <a:spcAft>
                <a:spcPts val="800"/>
              </a:spcAft>
              <a:buSzPct val="100000"/>
              <a:buChar char="•"/>
            </a:pPr>
            <a:r>
              <a:rPr lang="en-US" sz="1400" dirty="0">
                <a:solidFill>
                  <a:schemeClr val="tx2"/>
                </a:solidFill>
              </a:rPr>
              <a:t>Rapid în aplicație: 0,29 ms / imagine</a:t>
            </a:r>
            <a:endParaRPr lang="en-US" sz="1400" dirty="0"/>
          </a:p>
        </p:txBody>
      </p:sp>
      <p:sp>
        <p:nvSpPr>
          <p:cNvPr id="7" name="punct ResNet50"/>
          <p:cNvSpPr/>
          <p:nvPr/>
        </p:nvSpPr>
        <p:spPr>
          <a:xfrm>
            <a:off x="4617720" y="1371600"/>
            <a:ext cx="274320" cy="274320"/>
          </a:xfrm>
          <a:prstGeom prst="ellipse">
            <a:avLst/>
          </a:prstGeom>
          <a:solidFill>
            <a:schemeClr val="accent2"/>
          </a:solidFill>
          <a:ln/>
        </p:spPr>
      </p:sp>
      <p:sp>
        <p:nvSpPr>
          <p:cNvPr id="8" name="Text 6"/>
          <p:cNvSpPr txBox="1"/>
          <p:nvPr/>
        </p:nvSpPr>
        <p:spPr>
          <a:xfrm>
            <a:off x="5029200" y="1325880"/>
            <a:ext cx="3474720" cy="365760"/>
          </a:xfrm>
          <a:prstGeom prst="rect">
            <a:avLst/>
          </a:prstGeom>
          <a:noFill/>
          <a:ln/>
        </p:spPr>
        <p:txBody>
          <a:bodyPr wrap="square" lIns="0" tIns="0" rIns="0" bIns="0" rtlCol="0" anchor="ctr"/>
          <a:lstStyle/>
          <a:p>
            <a:pPr indent="0" marL="0">
              <a:buNone/>
            </a:pPr>
            <a:r>
              <a:rPr lang="en-US" sz="1800" b="1" dirty="0">
                <a:solidFill>
                  <a:schemeClr val="tx1"/>
                </a:solidFill>
              </a:rPr>
              <a:t>ResNet50</a:t>
            </a:r>
            <a:endParaRPr lang="en-US" sz="1800" dirty="0"/>
          </a:p>
        </p:txBody>
      </p:sp>
      <p:sp>
        <p:nvSpPr>
          <p:cNvPr id="9" name="Text 7"/>
          <p:cNvSpPr txBox="1"/>
          <p:nvPr/>
        </p:nvSpPr>
        <p:spPr>
          <a:xfrm>
            <a:off x="4617720" y="1874520"/>
            <a:ext cx="3931920" cy="182880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2"/>
                </a:solidFill>
              </a:rPr>
              <a:t>Trăsături ImageNet: obiecte mari, nu semne de 50 px</a:t>
            </a:r>
            <a:endParaRPr lang="en-US" sz="1400" dirty="0"/>
          </a:p>
          <a:p>
            <a:pPr marL="342900" indent="-342900">
              <a:spcAft>
                <a:spcPts val="800"/>
              </a:spcAft>
              <a:buSzPct val="100000"/>
              <a:buChar char="•"/>
            </a:pPr>
            <a:r>
              <a:rPr lang="en-US" sz="1400" dirty="0">
                <a:solidFill>
                  <a:schemeClr val="tx2"/>
                </a:solidFill>
              </a:rPr>
              <a:t>Imaginile mărite la 96 px nu câștigă detalii</a:t>
            </a:r>
            <a:endParaRPr lang="en-US" sz="1400" dirty="0"/>
          </a:p>
          <a:p>
            <a:pPr marL="342900" indent="-342900">
              <a:spcAft>
                <a:spcPts val="800"/>
              </a:spcAft>
              <a:buSzPct val="100000"/>
              <a:buChar char="•"/>
            </a:pPr>
            <a:r>
              <a:rPr lang="en-US" sz="1400" dirty="0">
                <a:solidFill>
                  <a:schemeClr val="tx2"/>
                </a:solidFill>
              </a:rPr>
              <a:t>Mai multe straturi dezghețate: 93,08% → 97,81%</a:t>
            </a:r>
            <a:endParaRPr lang="en-US" sz="1400" dirty="0"/>
          </a:p>
          <a:p>
            <a:pPr marL="342900" indent="-342900">
              <a:spcAft>
                <a:spcPts val="800"/>
              </a:spcAft>
              <a:buSzPct val="100000"/>
              <a:buChar char="•"/>
            </a:pPr>
            <a:r>
              <a:rPr lang="en-US" sz="1400" dirty="0">
                <a:solidFill>
                  <a:schemeClr val="tx2"/>
                </a:solidFill>
              </a:rPr>
              <a:t>Util pe seturi mici sau imagini complexe</a:t>
            </a:r>
            <a:endParaRPr lang="en-US" sz="1400" dirty="0"/>
          </a:p>
        </p:txBody>
      </p:sp>
      <p:sp>
        <p:nvSpPr>
          <p:cNvPr id="10" name="concluzie"/>
          <p:cNvSpPr/>
          <p:nvPr/>
        </p:nvSpPr>
        <p:spPr>
          <a:xfrm>
            <a:off x="411480" y="3840480"/>
            <a:ext cx="8321040" cy="640080"/>
          </a:xfrm>
          <a:prstGeom prst="roundRect">
            <a:avLst>
              <a:gd name="adj" fmla="val 11429"/>
            </a:avLst>
          </a:prstGeom>
          <a:solidFill>
            <a:schemeClr val="bg2"/>
          </a:solidFill>
          <a:ln w="9525">
            <a:solidFill>
              <a:schemeClr val="accent5"/>
            </a:solidFill>
            <a:prstDash val="solid"/>
          </a:ln>
        </p:spPr>
      </p:sp>
      <p:sp>
        <p:nvSpPr>
          <p:cNvPr id="11" name="Text 9"/>
          <p:cNvSpPr txBox="1"/>
          <p:nvPr/>
        </p:nvSpPr>
        <p:spPr>
          <a:xfrm>
            <a:off x="594360" y="3840480"/>
            <a:ext cx="7955280" cy="640080"/>
          </a:xfrm>
          <a:prstGeom prst="rect">
            <a:avLst/>
          </a:prstGeom>
          <a:noFill/>
          <a:ln/>
        </p:spPr>
        <p:txBody>
          <a:bodyPr wrap="square" lIns="0" tIns="0" rIns="0" bIns="0" rtlCol="0" anchor="ctr"/>
          <a:lstStyle/>
          <a:p>
            <a:pPr indent="0" marL="0">
              <a:buNone/>
            </a:pPr>
            <a:r>
              <a:rPr lang="en-US" sz="1300" dirty="0">
                <a:solidFill>
                  <a:schemeClr val="tx1"/>
                </a:solidFill>
              </a:rPr>
              <a:t>Ambele modele greșesc la aceleași semne (pietoni, polei, drum denivelat): dificultatea vine din date, nu din arhitectură.</a:t>
            </a:r>
            <a:endParaRPr lang="en-US" sz="1300" dirty="0"/>
          </a:p>
        </p:txBody>
      </p:sp>
      <p:sp>
        <p:nvSpPr>
          <p:cNvPr id="25" name="Slide Number Placeholder 0"/>
          <p:cNvSpPr>
            <a:spLocks noGrp="1"/>
          </p:cNvSpPr>
          <p:nvPr>
            <p:ph type="sldNum" sz="quarter" idx="4294967295"/>
          </p:nvPr>
        </p:nvSpPr>
        <p:spPr>
          <a:xfrm>
            <a:off x="8503920" y="4754880"/>
            <a:ext cx="36576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411480" y="256032"/>
            <a:ext cx="8321040" cy="502920"/>
          </a:xfrm>
          <a:prstGeom prst="rect">
            <a:avLst/>
          </a:prstGeom>
          <a:noFill/>
          <a:ln/>
        </p:spPr>
        <p:txBody>
          <a:bodyPr wrap="square" lIns="0" tIns="0" rIns="0" bIns="0" rtlCol="0" anchor="t"/>
          <a:lstStyle/>
          <a:p>
            <a:pPr algn="l" indent="0" marL="0">
              <a:buNone/>
            </a:pPr>
            <a:r>
              <a:rPr lang="en-US" sz="2600" b="1" dirty="0">
                <a:solidFill>
                  <a:schemeClr val="tx1"/>
                </a:solidFill>
              </a:rPr>
              <a:t>Aplicația web: încarci o poză și afli semnul</a:t>
            </a:r>
            <a:endParaRPr lang="en-US" sz="2600" dirty="0"/>
          </a:p>
        </p:txBody>
      </p:sp>
      <p:sp>
        <p:nvSpPr>
          <p:cNvPr id="3" name="Text 0"/>
          <p:cNvSpPr/>
          <p:nvPr>
            <p:ph idx="101" type="body" hasCustomPrompt="1"/>
          </p:nvPr>
        </p:nvSpPr>
        <p:spPr>
          <a:xfrm>
            <a:off x="411480" y="786384"/>
            <a:ext cx="8321040" cy="320040"/>
          </a:xfrm>
          <a:prstGeom prst="rect">
            <a:avLst/>
          </a:prstGeom>
          <a:noFill/>
          <a:ln/>
        </p:spPr>
        <p:txBody>
          <a:bodyPr wrap="square" lIns="0" tIns="0" rIns="0" bIns="0" rtlCol="0" anchor="t"/>
          <a:lstStyle/>
          <a:p>
            <a:pPr algn="l" indent="0" marL="0">
              <a:buNone/>
            </a:pPr>
            <a:r>
              <a:rPr lang="en-US" sz="1400" dirty="0">
                <a:solidFill>
                  <a:schemeClr val="tx2"/>
                </a:solidFill>
              </a:rPr>
              <a:t>Streamlit · rulează local: uv run streamlit run app/streamlit_app.py</a:t>
            </a:r>
            <a:endParaRPr lang="en-US" sz="1400" dirty="0"/>
          </a:p>
        </p:txBody>
      </p:sp>
      <p:pic>
        <p:nvPicPr>
          <p:cNvPr id="4" name="captura aplicatie" descr="Captură din aplicație: semnul Stop recunoscut cu 100% încredere">    </p:cNvPr>
          <p:cNvPicPr>
            <a:picLocks noChangeAspect="1"/>
          </p:cNvPicPr>
          <p:nvPr/>
        </p:nvPicPr>
        <p:blipFill>
          <a:blip r:embed="rId1"/>
          <a:stretch>
            <a:fillRect/>
          </a:stretch>
        </p:blipFill>
        <p:spPr>
          <a:xfrm>
            <a:off x="411480" y="1280160"/>
            <a:ext cx="5349240" cy="3172968"/>
          </a:xfrm>
          <a:prstGeom prst="rect">
            <a:avLst/>
          </a:prstGeom>
        </p:spPr>
      </p:pic>
      <p:sp>
        <p:nvSpPr>
          <p:cNvPr id="5" name="rama captura"/>
          <p:cNvSpPr/>
          <p:nvPr/>
        </p:nvSpPr>
        <p:spPr>
          <a:xfrm>
            <a:off x="411480" y="1280160"/>
            <a:ext cx="5349240" cy="3172968"/>
          </a:xfrm>
          <a:prstGeom prst="rect">
            <a:avLst/>
          </a:prstGeom>
          <a:ln w="9525">
            <a:solidFill>
              <a:schemeClr val="accent5"/>
            </a:solidFill>
            <a:prstDash val="solid"/>
          </a:ln>
        </p:spPr>
      </p:sp>
      <p:sp>
        <p:nvSpPr>
          <p:cNvPr id="6" name="Text 3"/>
          <p:cNvSpPr txBox="1"/>
          <p:nvPr/>
        </p:nvSpPr>
        <p:spPr>
          <a:xfrm>
            <a:off x="6035040" y="1325880"/>
            <a:ext cx="2697480" cy="3108960"/>
          </a:xfrm>
          <a:prstGeom prst="rect">
            <a:avLst/>
          </a:prstGeom>
          <a:noFill/>
          <a:ln/>
        </p:spPr>
        <p:txBody>
          <a:bodyPr wrap="square" lIns="0" tIns="0" rIns="0" bIns="0" rtlCol="0" anchor="t"/>
          <a:lstStyle/>
          <a:p>
            <a:pPr marL="342900" indent="-342900">
              <a:spcAft>
                <a:spcPts val="900"/>
              </a:spcAft>
              <a:buSzPct val="100000"/>
              <a:buChar char="•"/>
            </a:pPr>
            <a:r>
              <a:rPr lang="en-US" sz="1300" dirty="0">
                <a:solidFill>
                  <a:schemeClr val="tx1"/>
                </a:solidFill>
              </a:rPr>
              <a:t>Alegi modelul: CNN propriu sau ResNet50</a:t>
            </a:r>
            <a:endParaRPr lang="en-US" sz="1300" dirty="0"/>
          </a:p>
          <a:p>
            <a:pPr marL="342900" indent="-342900">
              <a:spcAft>
                <a:spcPts val="900"/>
              </a:spcAft>
              <a:buSzPct val="100000"/>
              <a:buChar char="•"/>
            </a:pPr>
            <a:r>
              <a:rPr lang="en-US" sz="1300" dirty="0">
                <a:solidFill>
                  <a:schemeClr val="tx1"/>
                </a:solidFill>
              </a:rPr>
              <a:t>Încarci o imagine sau alegi un exemplu</a:t>
            </a:r>
            <a:endParaRPr lang="en-US" sz="1300" dirty="0"/>
          </a:p>
          <a:p>
            <a:pPr marL="342900" indent="-342900">
              <a:spcAft>
                <a:spcPts val="900"/>
              </a:spcAft>
              <a:buSzPct val="100000"/>
              <a:buChar char="•"/>
            </a:pPr>
            <a:r>
              <a:rPr lang="en-US" sz="1300" dirty="0">
                <a:solidFill>
                  <a:schemeClr val="tx1"/>
                </a:solidFill>
              </a:rPr>
              <a:t>Vezi semnul, încrederea și top 3</a:t>
            </a:r>
            <a:endParaRPr lang="en-US" sz="1300" dirty="0"/>
          </a:p>
          <a:p>
            <a:pPr marL="342900" indent="-342900">
              <a:spcAft>
                <a:spcPts val="900"/>
              </a:spcAft>
              <a:buSzPct val="100000"/>
              <a:buChar char="•"/>
            </a:pPr>
            <a:r>
              <a:rPr lang="en-US" sz="1300" dirty="0">
                <a:solidFill>
                  <a:schemeClr val="tx1"/>
                </a:solidFill>
              </a:rPr>
              <a:t>Imaginea oficială, pentru comparație</a:t>
            </a:r>
            <a:endParaRPr lang="en-US" sz="1300" dirty="0"/>
          </a:p>
          <a:p>
            <a:pPr marL="342900" indent="-342900">
              <a:spcAft>
                <a:spcPts val="900"/>
              </a:spcAft>
              <a:buSzPct val="100000"/>
              <a:buChar char="•"/>
            </a:pPr>
            <a:r>
              <a:rPr lang="en-US" sz="1300" dirty="0">
                <a:solidFill>
                  <a:schemeClr val="tx1"/>
                </a:solidFill>
              </a:rPr>
              <a:t>Avertisment sub 50% încredere</a:t>
            </a:r>
            <a:endParaRPr lang="en-US" sz="1300" dirty="0"/>
          </a:p>
          <a:p>
            <a:pPr marL="342900" indent="-342900">
              <a:spcAft>
                <a:spcPts val="900"/>
              </a:spcAft>
              <a:buSzPct val="100000"/>
              <a:buChar char="•"/>
            </a:pPr>
            <a:r>
              <a:rPr lang="en-US" sz="1300" dirty="0">
                <a:solidFill>
                  <a:schemeClr val="tx1"/>
                </a:solidFill>
              </a:rPr>
              <a:t>Mesaje clare la fișiere greșite</a:t>
            </a:r>
            <a:endParaRPr lang="en-US" sz="1300" dirty="0"/>
          </a:p>
        </p:txBody>
      </p:sp>
      <p:sp>
        <p:nvSpPr>
          <p:cNvPr id="25" name="Slide Number Placeholder 0"/>
          <p:cNvSpPr>
            <a:spLocks noGrp="1"/>
          </p:cNvSpPr>
          <p:nvPr>
            <p:ph type="sldNum" sz="quarter" idx="4294967295"/>
          </p:nvPr>
        </p:nvSpPr>
        <p:spPr>
          <a:xfrm>
            <a:off x="8503920" y="4754880"/>
            <a:ext cx="36576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txBox="1"/>
          <p:nvPr/>
        </p:nvSpPr>
        <p:spPr>
          <a:xfrm>
            <a:off x="411480" y="502920"/>
            <a:ext cx="6949440" cy="640080"/>
          </a:xfrm>
          <a:prstGeom prst="rect">
            <a:avLst/>
          </a:prstGeom>
          <a:noFill/>
          <a:ln/>
        </p:spPr>
        <p:txBody>
          <a:bodyPr wrap="square" lIns="0" tIns="0" rIns="0" bIns="0" rtlCol="0" anchor="ctr"/>
          <a:lstStyle/>
          <a:p>
            <a:pPr indent="0" marL="0">
              <a:buNone/>
            </a:pPr>
            <a:r>
              <a:rPr lang="en-US" sz="3600" b="1" dirty="0">
                <a:solidFill>
                  <a:schemeClr val="bg1"/>
                </a:solidFill>
              </a:rPr>
              <a:t>Concluzii</a:t>
            </a:r>
            <a:endParaRPr lang="en-US" sz="3600" dirty="0"/>
          </a:p>
        </p:txBody>
      </p:sp>
      <p:sp>
        <p:nvSpPr>
          <p:cNvPr id="3" name="Text 1"/>
          <p:cNvSpPr txBox="1"/>
          <p:nvPr/>
        </p:nvSpPr>
        <p:spPr>
          <a:xfrm>
            <a:off x="411480" y="1417320"/>
            <a:ext cx="2651760" cy="822960"/>
          </a:xfrm>
          <a:prstGeom prst="rect">
            <a:avLst/>
          </a:prstGeom>
          <a:noFill/>
          <a:ln/>
        </p:spPr>
        <p:txBody>
          <a:bodyPr wrap="square" lIns="0" tIns="0" rIns="0" bIns="0" rtlCol="0" anchor="ctr"/>
          <a:lstStyle/>
          <a:p>
            <a:pPr indent="0" marL="0">
              <a:buNone/>
            </a:pPr>
            <a:r>
              <a:rPr lang="en-US" sz="4400" b="1" dirty="0">
                <a:solidFill>
                  <a:schemeClr val="bg1"/>
                </a:solidFill>
              </a:rPr>
              <a:t>99,03%</a:t>
            </a:r>
            <a:endParaRPr lang="en-US" sz="4400" dirty="0"/>
          </a:p>
        </p:txBody>
      </p:sp>
      <p:sp>
        <p:nvSpPr>
          <p:cNvPr id="4" name="Text 2"/>
          <p:cNvSpPr txBox="1"/>
          <p:nvPr/>
        </p:nvSpPr>
        <p:spPr>
          <a:xfrm>
            <a:off x="411480" y="2240280"/>
            <a:ext cx="2651760" cy="320040"/>
          </a:xfrm>
          <a:prstGeom prst="rect">
            <a:avLst/>
          </a:prstGeom>
          <a:noFill/>
          <a:ln/>
        </p:spPr>
        <p:txBody>
          <a:bodyPr wrap="square" lIns="0" tIns="0" rIns="0" bIns="0" rtlCol="0" anchor="ctr"/>
          <a:lstStyle/>
          <a:p>
            <a:pPr indent="0" marL="0">
              <a:buNone/>
            </a:pPr>
            <a:r>
              <a:rPr lang="en-US" sz="1400" dirty="0">
                <a:solidFill>
                  <a:schemeClr val="accent5"/>
                </a:solidFill>
              </a:rPr>
              <a:t>acuratețe CNN propriu</a:t>
            </a:r>
            <a:endParaRPr lang="en-US" sz="1400" dirty="0"/>
          </a:p>
        </p:txBody>
      </p:sp>
      <p:sp>
        <p:nvSpPr>
          <p:cNvPr id="5" name="Text 3"/>
          <p:cNvSpPr txBox="1"/>
          <p:nvPr/>
        </p:nvSpPr>
        <p:spPr>
          <a:xfrm>
            <a:off x="3246120" y="1417320"/>
            <a:ext cx="2651760" cy="822960"/>
          </a:xfrm>
          <a:prstGeom prst="rect">
            <a:avLst/>
          </a:prstGeom>
          <a:noFill/>
          <a:ln/>
        </p:spPr>
        <p:txBody>
          <a:bodyPr wrap="square" lIns="0" tIns="0" rIns="0" bIns="0" rtlCol="0" anchor="ctr"/>
          <a:lstStyle/>
          <a:p>
            <a:pPr indent="0" marL="0">
              <a:buNone/>
            </a:pPr>
            <a:r>
              <a:rPr lang="en-US" sz="4400" b="1" dirty="0">
                <a:solidFill>
                  <a:schemeClr val="bg1"/>
                </a:solidFill>
              </a:rPr>
              <a:t>18×</a:t>
            </a:r>
            <a:endParaRPr lang="en-US" sz="4400" dirty="0"/>
          </a:p>
        </p:txBody>
      </p:sp>
      <p:sp>
        <p:nvSpPr>
          <p:cNvPr id="6" name="Text 4"/>
          <p:cNvSpPr txBox="1"/>
          <p:nvPr/>
        </p:nvSpPr>
        <p:spPr>
          <a:xfrm>
            <a:off x="3246120" y="2240280"/>
            <a:ext cx="2651760" cy="320040"/>
          </a:xfrm>
          <a:prstGeom prst="rect">
            <a:avLst/>
          </a:prstGeom>
          <a:noFill/>
          <a:ln/>
        </p:spPr>
        <p:txBody>
          <a:bodyPr wrap="square" lIns="0" tIns="0" rIns="0" bIns="0" rtlCol="0" anchor="ctr"/>
          <a:lstStyle/>
          <a:p>
            <a:pPr indent="0" marL="0">
              <a:buNone/>
            </a:pPr>
            <a:r>
              <a:rPr lang="en-US" sz="1400" dirty="0">
                <a:solidFill>
                  <a:schemeClr val="accent5"/>
                </a:solidFill>
              </a:rPr>
              <a:t>mai mic decât ResNet50</a:t>
            </a:r>
            <a:endParaRPr lang="en-US" sz="1400" dirty="0"/>
          </a:p>
        </p:txBody>
      </p:sp>
      <p:sp>
        <p:nvSpPr>
          <p:cNvPr id="7" name="Text 5"/>
          <p:cNvSpPr txBox="1"/>
          <p:nvPr/>
        </p:nvSpPr>
        <p:spPr>
          <a:xfrm>
            <a:off x="6080760" y="1417320"/>
            <a:ext cx="2651760" cy="822960"/>
          </a:xfrm>
          <a:prstGeom prst="rect">
            <a:avLst/>
          </a:prstGeom>
          <a:noFill/>
          <a:ln/>
        </p:spPr>
        <p:txBody>
          <a:bodyPr wrap="square" lIns="0" tIns="0" rIns="0" bIns="0" rtlCol="0" anchor="ctr"/>
          <a:lstStyle/>
          <a:p>
            <a:pPr indent="0" marL="0">
              <a:buNone/>
            </a:pPr>
            <a:r>
              <a:rPr lang="en-US" sz="4400" b="1" dirty="0">
                <a:solidFill>
                  <a:schemeClr val="bg1"/>
                </a:solidFill>
              </a:rPr>
              <a:t>132</a:t>
            </a:r>
            <a:endParaRPr lang="en-US" sz="4400" dirty="0"/>
          </a:p>
        </p:txBody>
      </p:sp>
      <p:sp>
        <p:nvSpPr>
          <p:cNvPr id="8" name="Text 6"/>
          <p:cNvSpPr txBox="1"/>
          <p:nvPr/>
        </p:nvSpPr>
        <p:spPr>
          <a:xfrm>
            <a:off x="6080760" y="2240280"/>
            <a:ext cx="2651760" cy="320040"/>
          </a:xfrm>
          <a:prstGeom prst="rect">
            <a:avLst/>
          </a:prstGeom>
          <a:noFill/>
          <a:ln/>
        </p:spPr>
        <p:txBody>
          <a:bodyPr wrap="square" lIns="0" tIns="0" rIns="0" bIns="0" rtlCol="0" anchor="ctr"/>
          <a:lstStyle/>
          <a:p>
            <a:pPr indent="0" marL="0">
              <a:buNone/>
            </a:pPr>
            <a:r>
              <a:rPr lang="en-US" sz="1400" dirty="0">
                <a:solidFill>
                  <a:schemeClr val="accent5"/>
                </a:solidFill>
              </a:rPr>
              <a:t>teste automate</a:t>
            </a:r>
            <a:endParaRPr lang="en-US" sz="1400" dirty="0"/>
          </a:p>
        </p:txBody>
      </p:sp>
      <p:sp>
        <p:nvSpPr>
          <p:cNvPr id="9" name="Text 7"/>
          <p:cNvSpPr txBox="1"/>
          <p:nvPr/>
        </p:nvSpPr>
        <p:spPr>
          <a:xfrm>
            <a:off x="411480" y="3108960"/>
            <a:ext cx="8321040" cy="731520"/>
          </a:xfrm>
          <a:prstGeom prst="rect">
            <a:avLst/>
          </a:prstGeom>
          <a:noFill/>
          <a:ln/>
        </p:spPr>
        <p:txBody>
          <a:bodyPr wrap="square" lIns="0" tIns="0" rIns="0" bIns="0" rtlCol="0" anchor="t"/>
          <a:lstStyle/>
          <a:p>
            <a:pPr indent="0" marL="0">
              <a:buNone/>
            </a:pPr>
            <a:r>
              <a:rPr lang="en-US" sz="1500" b="1" dirty="0">
                <a:solidFill>
                  <a:schemeClr val="bg1"/>
                </a:solidFill>
              </a:rPr>
              <a:t>Pași următori: </a:t>
            </a:r>
            <a:pPr indent="0" marL="0">
              <a:buNone/>
            </a:pPr>
            <a:r>
              <a:rPr lang="en-US" sz="1500" dirty="0">
                <a:solidFill>
                  <a:schemeClr val="accent5"/>
                </a:solidFill>
              </a:rPr>
              <a:t>detecție cu YOLO (pătrate în jurul semnelor din poze de stradă), apoi procesare video cadru cu cadru.</a:t>
            </a:r>
            <a:endParaRPr lang="en-US" sz="1500" dirty="0"/>
          </a:p>
        </p:txBody>
      </p:sp>
      <p:sp>
        <p:nvSpPr>
          <p:cNvPr id="11" name="Text 0"/>
          <p:cNvSpPr/>
          <p:nvPr>
            <p:ph idx="100" type="title" hasCustomPrompt="1"/>
          </p:nvPr>
        </p:nvSpPr>
        <p:spPr>
          <a:xfrm>
            <a:off x="411480" y="1417320"/>
            <a:ext cx="6949440" cy="1371600"/>
          </a:xfrm>
          <a:prstGeom prst="rect">
            <a:avLst/>
          </a:prstGeom>
          <a:noFill/>
          <a:ln/>
        </p:spPr>
        <p:txBody>
          <a:bodyPr wrap="square" lIns="0" tIns="0" rIns="0" bIns="0" rtlCol="0" anchor="b"/>
          <a:lstStyle/>
          <a:p>
            <a:pPr algn="l" indent="0" marL="0">
              <a:buNone/>
            </a:pPr>
            <a:endParaRPr lang="en-US" sz="3600" dirty="0"/>
          </a:p>
        </p:txBody>
      </p:sp>
      <p:sp>
        <p:nvSpPr>
          <p:cNvPr id="12" name="Text 0"/>
          <p:cNvSpPr/>
          <p:nvPr>
            <p:ph idx="101" type="body" hasCustomPrompt="1"/>
          </p:nvPr>
        </p:nvSpPr>
        <p:spPr>
          <a:xfrm>
            <a:off x="411480" y="2926080"/>
            <a:ext cx="6949440" cy="1097280"/>
          </a:xfrm>
          <a:prstGeom prst="rect">
            <a:avLst/>
          </a:prstGeom>
          <a:noFill/>
          <a:ln/>
        </p:spPr>
        <p:txBody>
          <a:bodyPr wrap="square" lIns="0" tIns="0" rIns="0" bIns="0" rtlCol="0" anchor="t"/>
          <a:lstStyle/>
          <a:p>
            <a:pPr algn="l" indent="0" marL="0">
              <a:buNone/>
            </a:pPr>
            <a:endParaRPr lang="en-US" sz="16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411480" y="1417320"/>
            <a:ext cx="6949440" cy="1371600"/>
          </a:xfrm>
          <a:prstGeom prst="rect">
            <a:avLst/>
          </a:prstGeom>
          <a:noFill/>
          <a:ln/>
        </p:spPr>
        <p:txBody>
          <a:bodyPr wrap="square" lIns="0" tIns="0" rIns="0" bIns="0" rtlCol="0" anchor="b"/>
          <a:lstStyle/>
          <a:p>
            <a:pPr algn="l" indent="0" marL="0">
              <a:buNone/>
            </a:pPr>
            <a:r>
              <a:rPr lang="en-US" sz="3600" b="1" dirty="0">
                <a:solidFill>
                  <a:schemeClr val="bg1"/>
                </a:solidFill>
              </a:rPr>
              <a:t>Mulțumim! Întrebări?</a:t>
            </a:r>
            <a:endParaRPr lang="en-US" sz="3600" dirty="0"/>
          </a:p>
        </p:txBody>
      </p:sp>
      <p:sp>
        <p:nvSpPr>
          <p:cNvPr id="3" name="Text 0"/>
          <p:cNvSpPr/>
          <p:nvPr>
            <p:ph idx="101" type="body" hasCustomPrompt="1"/>
          </p:nvPr>
        </p:nvSpPr>
        <p:spPr>
          <a:xfrm>
            <a:off x="411480" y="2926080"/>
            <a:ext cx="6949440" cy="1097280"/>
          </a:xfrm>
          <a:prstGeom prst="rect">
            <a:avLst/>
          </a:prstGeom>
          <a:noFill/>
          <a:ln/>
        </p:spPr>
        <p:txBody>
          <a:bodyPr wrap="square" lIns="0" tIns="0" rIns="0" bIns="0" rtlCol="0" anchor="t"/>
          <a:lstStyle/>
          <a:p>
            <a:pPr algn="l" indent="0" marL="0">
              <a:buNone/>
            </a:pPr>
            <a:r>
              <a:rPr lang="en-US" sz="1600" dirty="0">
                <a:solidFill>
                  <a:schemeClr val="accent5"/>
                </a:solidFill>
              </a:rPr>
              <a:t>Cod, rezultate și instrucțiuni: README pe GitHub</a:t>
            </a:r>
            <a:endParaRPr lang="en-US" sz="1600" dirty="0"/>
          </a:p>
          <a:p>
            <a:pPr algn="l" indent="0" marL="0">
              <a:buNone/>
            </a:pPr>
            <a:r>
              <a:rPr lang="en-US" sz="1600" u="sng" dirty="0">
                <a:solidFill>
                  <a:schemeClr val="bg1"/>
                </a:solidFill>
                <a:hlinkClick r:id="rId1" invalidUrl="" action="" tgtFrame="" tooltip="" history="1" highlightClick="0" endSnd="0">
                  <a:extLst>
                    <a:ext uri="{A12FA001-AC4F-418D-AE19-62706E023703}">
                      <ahyp:hlinkClr xmlns:ahyp="http://schemas.microsoft.com/office/drawing/2018/hyperlinkcolor" val="tx"/>
                    </a:ext>
                  </a:extLst>
                </a:hlinkClick>
              </a:rPr>
              <a:t>github.com/GalanIonut/traffic-sign-recognition</a:t>
            </a:r>
            <a:endParaRPr lang="en-US" sz="1600" dirty="0"/>
          </a:p>
        </p:txBody>
      </p:sp>
      <p:pic>
        <p:nvPicPr>
          <p:cNvPr id="4" name="semn cedeaza" descr="Semnul Cedează trecerea">    </p:cNvPr>
          <p:cNvPicPr>
            <a:picLocks noChangeAspect="1"/>
          </p:cNvPicPr>
          <p:nvPr/>
        </p:nvPicPr>
        <p:blipFill>
          <a:blip r:embed="rId2"/>
          <a:stretch>
            <a:fillRect/>
          </a:stretch>
        </p:blipFill>
        <p:spPr>
          <a:xfrm>
            <a:off x="7452360" y="1600200"/>
            <a:ext cx="1234440" cy="1234440"/>
          </a:xfrm>
          <a:prstGeom prst="rect">
            <a:avLst/>
          </a:prstGeom>
        </p:spPr>
      </p:pic>
    </p:spTree>
  </p:cSld>
  <p:clrMapOvr>
    <a:masterClrMapping/>
  </p:clrMapOvr>
</p:sld>
</file>

<file path=ppt/theme/theme1.xml><?xml version="1.0" encoding="utf-8"?>
<a:theme xmlns:a="http://schemas.openxmlformats.org/drawingml/2006/main" name="Semne de circulatie">
  <a:themeElements>
    <a:clrScheme name="Semne de circulatie">
      <a:dk1>
        <a:srgbClr val="0B0B0B"/>
      </a:dk1>
      <a:lt1>
        <a:srgbClr val="FCFCFB"/>
      </a:lt1>
      <a:dk2>
        <a:srgbClr val="52514E"/>
      </a:dk2>
      <a:lt2>
        <a:srgbClr val="F2F1EC"/>
      </a:lt2>
      <a:accent1>
        <a:srgbClr val="2A78D6"/>
      </a:accent1>
      <a:accent2>
        <a:srgbClr val="EB6834"/>
      </a:accent2>
      <a:accent3>
        <a:srgbClr val="1BAF7A"/>
      </a:accent3>
      <a:accent4>
        <a:srgbClr val="13233F"/>
      </a:accent4>
      <a:accent5>
        <a:srgbClr val="D9D7D0"/>
      </a:accent5>
      <a:accent6>
        <a:srgbClr val="C8102E"/>
      </a:accent6>
      <a:hlink>
        <a:srgbClr val="2A78D6"/>
      </a:hlink>
      <a:folHlink>
        <a:srgbClr val="1BAF7A"/>
      </a:folHlink>
    </a:clrScheme>
    <a:fontScheme name="Semne de circulati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Recunoașterea semnelor de circulație</dc:title>
  <dc:subject>PptxGenJS Presentation</dc:subject>
  <dc:creator>Echipa proiectului</dc:creator>
  <cp:lastModifiedBy>Echipa proiectului</cp:lastModifiedBy>
  <cp:revision>1</cp:revision>
  <dcterms:created xsi:type="dcterms:W3CDTF">2026-10-27T11:10:12Z</dcterms:created>
  <dcterms:modified xsi:type="dcterms:W3CDTF">2026-10-27T11:10:12Z</dcterms:modified>
</cp:coreProperties>
</file>